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864addc-d94d-e2a4-5a90-7275e120c240}">
          <p14:sldIdLst>
            <p14:sldId id="256"/>
          </p14:sldIdLst>
        </p14:section>
        <p14:section name="Motivation" id="{72154dce-89a3-be74-441b-d81e047c5a7d}">
          <p14:sldIdLst>
            <p14:sldId id="257"/>
          </p14:sldIdLst>
        </p14:section>
        <p14:section name="Background" id="{457e1d22-4f12-394d-0512-4c7120e155dd}">
          <p14:sldIdLst>
            <p14:sldId id="258"/>
            <p14:sldId id="259"/>
            <p14:sldId id="260"/>
            <p14:sldId id="261"/>
            <p14:sldId id="262"/>
            <p14:sldId id="263"/>
            <p14:sldId id="264"/>
            <p14:sldId id="265"/>
            <p14:sldId id="266"/>
          </p14:sldIdLst>
        </p14:section>
        <p14:section name="Literature" id="{9a6579dc-6a4d-ba10-25f0-0046fcbe7345}">
          <p14:sldIdLst>
            <p14:sldId id="267"/>
            <p14:sldId id="268"/>
            <p14:sldId id="269"/>
          </p14:sldIdLst>
        </p14:section>
        <p14:section name="Market model" id="{1424f11b-b883-ddb6-5f79-6d157efd76ba}">
          <p14:sldIdLst>
            <p14:sldId id="270"/>
            <p14:sldId id="271"/>
            <p14:sldId id="272"/>
            <p14:sldId id="273"/>
            <p14:sldId id="274"/>
          </p14:sldIdLst>
        </p14:section>
        <p14:section name="Crash and recovery" id="{629ac27a-b16d-9ce9-e171-f7d979953d81}">
          <p14:sldIdLst>
            <p14:sldId id="275"/>
            <p14:sldId id="276"/>
            <p14:sldId id="277"/>
            <p14:sldId id="278"/>
            <p14:sldId id="279"/>
          </p14:sldIdLst>
        </p14:section>
        <p14:section name="Financial networks" id="{d56af5cd-1a6f-7759-5a99-b784ce4446bd}">
          <p14:sldIdLst>
            <p14:sldId id="280"/>
          </p14:sldIdLst>
        </p14:section>
        <p14:section name="Closing" id="{19416ba6-aef2-15d3-0d68-ed86428e0aba}">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your advisor. I will explain how a group of interacting units can switch suddenly from disorder to order, starting from the basic model of synchronization, and what this means for financial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fireflies flashing together, or an audience gradually finding the same clapping rhythm. Each individual starts with its own timing, but interactions can bring them into step. Traders in a market watch and copy each other in a similar way. What interests me is that this change is not always gradual. Sometimes the system switches very suddenly, and the structure of the network decides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oscillator is anything that repeats a cycle. Its phase theta is where it is in the cycle, an angle between 0 and 360 degrees. Its natural frequency omega is the speed it would have on its own, and in a real population every oscillator has a slightly different one. The coupling strength K sets how strongly they pull on each other. For a pendulum the phase is the angle of the swing, for a heart cell the point in the beat, for a firefly the time since its last flash, and for a trader it can be read as the position in a cycle of buying and 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behind the Kuramoto model is fairly simple. Every oscillator has its own natural frequency, but it also feels the pull of the others. The sine term says how the phase difference sets that pull: if a neighbour is ahead you speed up, if it is behind you slow down, and in step there is no pull. When the coupling is weak, the oscillators mostly follow their own rhythms. As we increase the coupling, they start locking to one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how synchronized the oscillators are, we use the order parameter. Each oscillator is represented by an arrow of length one pointing at its phase. Averaging all the arrows gives a new arrow. Its length R is 0 when the phases are spread out and the arrows cancel, and 1 when all oscillators are in step. Its direction psi is the average phase of the group. The local order parameter r i is the same average taken only over the neighbours of node i, and it will be important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parameter makes the model much simpler. Multiply its definition by the complex conjugate of oscillator i's arrow and take the imaginary part. The average of the sines of theta j minus theta i becomes R times the sine of psi minus theta i. So the Kuramoto model becomes d theta i by d t equals omega i plus K R sine of psi minus theta i. Each oscillator only feels the group, through a pull of strength K R towards the average phase psi. Because the pull is proportional to R, synchrony reinforces itself. But R is also produced by the oscillators themselves, so it must be consistent with the motion it causes. That condition is solved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relative to the group, an oscillator is locked when its phase stops changing. Setting its speed to zero in the mean-field equation gives sine of theta i minus psi equals omega i over K R. A sine can never be larger than one, so this only works when the size of the natural frequency is at most K R. Those oscillators are slow enough to be held by the pull, and they lock. Faster ones keep drifting around the circle, and their contributions cancel on average, so only locked oscillators add to R. R must then equal what the locked oscillators produce, which is the self-consistency equation, where g is the distribution of natural frequencies. Besides R equal to zero, it has a solution only above a critical coupling, 2 over pi times g of zero. For a Lorentzian distribution of width gamma the threshold is K equal to 2 gamma, and above it R is the square root of one minus 2 gamma over K. This is why ordinary synchronization starts at a threshold and then grows gradually. Locked does not mean that every oscillator has the same phase. Locked oscillators rotate together with the group but keep fixed, different phase offsets, with slower oscillators closer to the group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every oscillator has felt every other one. In a network, each oscillator sits on a node, and a link means that one node feels the pull of another. The degree of a node is its number of links. In a random, or Erdos-Renyi, network the links are placed at random and most nodes have a similar degree. In a scale-free, or Barabasi-Albert, network a few hubs have very many links and most nodes have only a few. In a random regular network every node has exactly k neighbours chosen at random. Finally, a link can be two-way, where both nodes listen to each other, or one-way, where only one of them listens, as when a small trader follows a large 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model can be read as a financial network, and I use this picture throughout the talk. Each oscillator is a trader or a trading desk. The phase is the trader's position in a cycle of buying and selling, and the sine of the phase is its net order, positive when it buys and negative when it sells. The natural frequency stands for the trader's own strategy and speed, and the coupling for how strongly traders copy each other. The network says who watches whom, and a small trader following a large fund that does not follow back is a one-way link. The order parameter is market consensus: near zero, buy and sell orders balance, and near one, most traders act together. Herding, where a trader copies more when the traders it watches already agree, is exactly the adaptive coupling introduced in the literature review. This is a modelling abstraction. Real traders do not literally follow sinusoidal cycles; the picture is used to interpret the model, and testing it on market data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connects to an existing line of financial research. In 1999 Mantegna used the correlations between stock returns to build a network of stocks, a minimum spanning tree that shows the hierarchical structure of the market, and describing a market as a network is now a standard tool. In 2000 Cont and Bouchaud showed that herding, where traders form groups that act together, can produce the large price fluctuations seen in real markets. Most directly, in 2025 Lee and co-workers in PNAS measured how close 39 national stock markets were to explosive synchronization before the 2008 financial crisis, and found that this proximity was associated with how quickly the markets collapsed and recovered. This is an association, not proof of cause. Together these works describe markets as networks of coupled units that can switch suddenly. The Kuramoto model with adaptive coupling is a simple version of this picture that can be solved exactly, which is what the rest of the talk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simulation of the Kuramoto model with the coupling above the critical value. The oscillators start with random phases, so R is about 0.1. As they pull on each other, groups of locked oscillators form and R rises to about 0.7. R keeps fluctuating because the fastest oscillators never lock. In the Kuramoto model the final value of R grows gradually as the coupling is increased. The next part of the talk looks at how this growth can instead be sudden.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coupling strength has been fixed. Zhang and co-authors introduced a different idea: what if the strength of an interaction depends on how much the neighbours already agree? When the neighbours are poorly aligned, the coupling is weak. As they become more synchronized, it gets stronger. That creates a feedback loop, and this is what makes a sudden transition possible. In the equation, r i is the local order parameter of node i's neighbours, p sets how strong the feedback is, with p equal to zero giving back ordinary Kuramoto, and lambda is the overall coupling. In a financial network this is herding.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panel from my simulations of the adaptive model, on a random network of 500 traders with an average of 12 links each and Gaussian natural frequencies. Here no trader uses adaptive coupling, so this is the ordinary Kuramoto model on a network. The horizontal axis is the coupling, the vertical axis is synchrony R. The blue curve is measured while the coupling is slowly increased and the orange curve while it is slowly decreased. Synchrony rises smoothly from near zero to near one, and the two curves lie on top of each other: the market moves gradually from disorder to synchrony and back along the same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network, but now every trader uses adaptive coupling with p equal to one. When the coupling is slowly increased, the blue curve, synchrony stays near zero and then jumps to almost one at a coupling of about 3.9. When the coupling is slowly decreased, the orange curve, synchrony stays high and only drops at about 3.0. The shaded area between the curves is the range where the outcome depends on whether the market was calm or synchronized before. In market terms, a crash starts suddenly at a high level of herding, and once it has started, herding must fall well below that level before the market recovers. The numbers 3.88 and 3.04 come from the log of this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market model used in my simulations. Each trader's phase follows the adaptive Kuramoto equation, with three additions. The shock term epsilon s i is a common sell signal: traders with s i equal to one are pushed towards the selling phase, minus pi over two. The noise term sigma d W i is each trader's own news, different for every trader. The term sigma c d W c is common market news, the same for everyone. The net order flow Q is the average of the sines of the phases: minus one means everyone is selling and plus one means everyone is buying. The log price x is pushed by the order flow with strength beta and pulled back to its fundamental value by value investors at rate kappa, plus its own noise. The price is 100 times e to the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market model the phase of a trader is not just an angle; it sets the trader's order. The order is the sine of the phase. At 90 degrees, pi over two, the sine is plus one and the trader buys at full strength. At minus 90 degrees, minus pi over two, the sine is minus one and the trader sells at full strength. At 0 or 180 degrees the order is zero: the trader is switching between buying and selling. A trader left alone runs round the circle at its own speed, so it alternates between buying and selling. Q is the average order over all traders, the net order flow of the market. When phases are spread out, buys and sells cancel and Q is close to zero. When most traders are locked near minus pi over two, Q is close to minus one and the whole market sells.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shock term has exactly the same form as the Kuramoto pull, sine of a target minus my own phase, but the target is not another trader. It is the fixed phase minus pi over two, which means full selling. So a trader hit by the shock behaves as if it were watching a phantom trader who always sells, which is how bad news acts. If the trader's phase is behind minus pi over two, the sine is positive and pushes it forward; if it is ahead, the sine is negative and pulls it back. At minus pi over two the term is zero, so the trader is held at full selling. Epsilon is the strength of the news. In the crash simulations a strong shock of 1.2 lasts 8 time units, and a weak bearish background of 0.02 is always on. s i is one for the traders who receive the news and zero for the rest; hitting 10 to 15 percent of traders, especially hubs, can be enough. The weak background is needed because, without any directional news, a locked herd's common phase slowly drifts from selling to buying, a boom-bust whipsaw.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traders do not move like clockwork; they react to news. The model has two kinds of random news. sigma d W i is private news: at every time step each trader gets its own random kick, with mean zero and a variance proportional to the time step, so the kicks add up like a random walk. sigma c d W c is common news: one random kick shared by every trader, which moves all phases together. Private noise shakes locked traders and blurs the synchronized state. In my runs with sigma equal to 0.3, the lowest herding at which a crash could survive rose from 3.04 to 3.21. Noise can also start a crash on its own: near the crash threshold, random kicks can bring enough traders into line by chance. At herding 3.8 a quarter of simulated markets crashed with no shock at all, and at 4.3 all of them did. Common news is what makes different stocks move together; without it, the model's stocks would be uncorrelated even in a crash. The equations are integrated with a stochastic Heun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phases set the orders, and the orders set the price. x is the log price relative to the fundamental value, so the price is 100 times e to the x, and x equal to zero means a price of 100. Beta Q is price impact: net selling, Q below zero, pushes the price down. Minus kappa x is the value investors: they buy when the price is below its fundamental value and sell when it is above, which pulls x back to zero. Eta d B is random noise in the price itself. In the simulations beta is 0.01 and kappa is 0.05. If Q stays constant, the price settles where the two forces balance, beta Q equals kappa x, so x star is beta Q over kappa. If everyone sells, Q equals minus one and the price settles at 100 times e to the minus 0.2, about 82. That is exactly where the simulated crashes end, between 82.9 and 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crash, seen first as physics and then as a market. In ordinary Kuramoto the group pulls each oscillator with strength K R, which grows in proportion to R. Even a small cluster pulls a little, so synchrony grows smoothly. With adaptive coupling the pull is lambda R to the p plus one. A small cluster has almost no pull, so the disordered state is stable. But once a large enough cluster forms, every new recruit raises R, which raises the pull faster than R itself, which recruits more. That runaway cascade is the sudden jump. The cluster can form because herding rises far enough, because a shock pushes a group together, or because noise does so by chance. In the market: in calm times traders buy and sell at different times and their orders cancel. While opinions are split, herding stays weak. News or rising herding brings a group of traders to sell together, their agreement makes everyone copy them more strongly, and selling spreads through the network. Q falls towards minus one and the price falls by up to about 18 percent. That is the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simulations of the market model with 500 traders and noise 0.3. In scenario A herding is low, 2.61. A strong sell shock of strength 1.2 hits for 8 time units. Synchrony R, in blue, spikes to almost one and the order flow Q, in orange, drops to almost minus one: briefly, everyone sells. The price falls 7.6 percent. As soon as the shock ends, herding is too weak to hold the herd together, the traders drift apart, Q returns to zero and the price recovers to its fundamental value. That is a flash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B uses exactly the same market, traders, noise and shock. The only difference is that herding is higher, 3.47. Now, after the shock ends, the herd holds itself together: R stays near 0.85 and Q stays near minus 0.7. The price falls 16.2 percent and stays down near 87, which matches the price equation, 100 times e to the power beta Q over kappa. So the same trigger can produce a short dip or a lasting crash, depending only on how strongly traders herd.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scenario C there is no shock, only the weak bearish background news. Instead, herding rises slowly from 1.7 to about 4.8. For a long time the market looks calm, but R starts to flicker as small groups briefly line up. Then, once herding is high enough, the cascade runs away: R jumps to almost one, Q to almost minus one, and the price falls 19.2 percent, ending near 83. This is an endogenous crash, caused by rising herding and noise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reverse transition, the recovery. A synchronized oscillator stays locked only while the group's pull beats its own speed, the size of omega i at most lambda R to the p plus one. Because that pull grows like R to the p plus one, a strongly synchronized group holds itself together: it survives even when herding is lowered below the level that created it. In my runs a crash formed at herding 3.9 but only ended below 3.0. When herding falls far enough, the fastest traders unlock first. R drops, the pull drops even faster, more traders unlock, and synchrony collapses suddenly, just as it formed. If the coupling is switched off altogether, the phases spread out at a rate set by the spread of natural frequencies, gamma, and the noise, sigma: roughly R of t equals R zero times e to the minus gamma plus sigma squared over two, times t. In the market: a crash ends when the selling herd breaks up and buys and sells cancel again. Reducing herding a little is not enough; it must fall well below the level that started the crash. Traders with very different strategies unlock first, so a market with more diverse strategies recovers more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here is what the physics means for a network of traders. Each trader responds to the overall market consensus, more strongly when the consensus is stronger. A consensus forms only when copying is strong compared with the diversity of strategies. With herding, the market does not drift gradually to one side; it switches suddenly from balanced to one-sided trading, which is a crash. News reaching a modest fraction of traders, or random news alone when herding is high, can start it. A crash ends only when herding falls well below the level that started it, and markets with more diverse strategies recover more easily. The trader picture is an abstraction, and testing it carefully on market data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If asked whether this has been applied to real markets: first tests on daily and minute-level stock data are in the repository, but they are not conclusive, mainly because large intraday crashes are rare, so the sample is too small to confirm or rule out the model. In this talk the financial network is the motivation and the way to read the model, and a proper test on market data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cover">
    <p:bg>
      <p:bgPr>
        <a:solidFill>
          <a:srgbClr val="000000"/>
        </a:solidFill>
      </p:bgPr>
    </p:bg>
    <p:spTree>
      <p:nvGrpSpPr>
        <p:cNvPr id="1" name=""/>
        <p:cNvGrpSpPr/>
        <p:nvPr/>
      </p:nvGrpSpPr>
      <p:grpSpPr>
        <a:xfrm>
          <a:off x="0" y="0"/>
          <a:ext cx="0" cy="0"/>
          <a:chOff x="0" y="0"/>
          <a:chExt cx="0" cy="0"/>
        </a:xfrm>
      </p:grpSpPr>
      <p:sp>
        <p:nvSpPr>
          <p:cNvPr id="3" name="Text 0"/>
          <p:cNvSpPr txBox="1"/>
          <p:nvPr/>
        </p:nvSpPr>
        <p:spPr>
          <a:xfrm>
            <a:off x="594360" y="2011680"/>
            <a:ext cx="11002975"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Explosive Synchronization</a:t>
            </a:r>
            <a:endParaRPr lang="en-US" sz="5400" dirty="0"/>
          </a:p>
        </p:txBody>
      </p:sp>
      <p:sp>
        <p:nvSpPr>
          <p:cNvPr id="4" name="Text 1"/>
          <p:cNvSpPr txBox="1"/>
          <p:nvPr/>
        </p:nvSpPr>
        <p:spPr>
          <a:xfrm>
            <a:off x="594360" y="3017520"/>
            <a:ext cx="11002975" cy="54864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Adaptive coupling in financial networks</a:t>
            </a:r>
            <a:endParaRPr lang="en-US" sz="2600" dirty="0"/>
          </a:p>
        </p:txBody>
      </p:sp>
      <p:sp>
        <p:nvSpPr>
          <p:cNvPr id="5" name="Text 2"/>
          <p:cNvSpPr txBox="1"/>
          <p:nvPr/>
        </p:nvSpPr>
        <p:spPr>
          <a:xfrm>
            <a:off x="594360" y="4206240"/>
            <a:ext cx="11002975"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Athmeeya M Kashyap</a:t>
            </a:r>
            <a:endParaRPr lang="en-US" sz="2200" dirty="0"/>
          </a:p>
        </p:txBody>
      </p:sp>
      <p:sp>
        <p:nvSpPr>
          <p:cNvPr id="6" name="Text 3"/>
          <p:cNvSpPr txBox="1"/>
          <p:nvPr/>
        </p:nvSpPr>
        <p:spPr>
          <a:xfrm>
            <a:off x="594360" y="4663440"/>
            <a:ext cx="11002975" cy="365760"/>
          </a:xfrm>
          <a:prstGeom prst="rect">
            <a:avLst/>
          </a:prstGeom>
          <a:noFill/>
          <a:ln/>
        </p:spPr>
        <p:txBody>
          <a:bodyPr wrap="square" lIns="0" tIns="0" rIns="0" bIns="0" rtlCol="0" anchor="ctr"/>
          <a:lstStyle/>
          <a:p>
            <a:pPr indent="0" marL="0">
              <a:buNone/>
            </a:pPr>
            <a:r>
              <a:rPr lang="en-US" sz="1800" dirty="0">
                <a:solidFill>
                  <a:srgbClr val="BFBFBF"/>
                </a:solidFill>
                <a:latin typeface="Calibri" pitchFamily="34" charset="0"/>
                <a:ea typeface="Calibri" pitchFamily="34" charset="-122"/>
                <a:cs typeface="Calibri" pitchFamily="34" charset="-120"/>
              </a:rPr>
              <a:t>Advisor: Chittaranjan Hens</a:t>
            </a:r>
            <a:endParaRPr lang="en-US" sz="1800" dirty="0"/>
          </a:p>
        </p:txBody>
      </p:sp>
      <p:sp>
        <p:nvSpPr>
          <p:cNvPr id="7" name="Text 4"/>
          <p:cNvSpPr txBox="1"/>
          <p:nvPr/>
        </p:nvSpPr>
        <p:spPr>
          <a:xfrm>
            <a:off x="594360" y="5029200"/>
            <a:ext cx="11002975" cy="365760"/>
          </a:xfrm>
          <a:prstGeom prst="rect">
            <a:avLst/>
          </a:prstGeom>
          <a:noFill/>
          <a:ln/>
        </p:spPr>
        <p:txBody>
          <a:bodyPr wrap="square" lIns="0" tIns="0" rIns="0" bIns="0" rtlCol="0" anchor="ctr"/>
          <a:lstStyle/>
          <a:p>
            <a:pPr indent="0" marL="0">
              <a:buNone/>
            </a:pPr>
            <a:r>
              <a:rPr lang="en-US" sz="1800" dirty="0">
                <a:solidFill>
                  <a:srgbClr val="BFBFBF"/>
                </a:solidFill>
                <a:latin typeface="Calibri" pitchFamily="34" charset="0"/>
                <a:ea typeface="Calibri" pitchFamily="34" charset="-122"/>
                <a:cs typeface="Calibri" pitchFamily="34" charset="-120"/>
              </a:rPr>
              <a:t>IIIT Hyderabad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Motivation">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Motivation</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2</a:t>
            </a:r>
            <a:endParaRPr lang="en-US" sz="1200" dirty="0"/>
          </a:p>
        </p:txBody>
      </p:sp>
      <p:sp>
        <p:nvSpPr>
          <p:cNvPr id="6" name="Text 3"/>
          <p:cNvSpPr txBox="1"/>
          <p:nvPr/>
        </p:nvSpPr>
        <p:spPr>
          <a:xfrm>
            <a:off x="594360" y="1508760"/>
            <a:ext cx="1100297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Many natural and social systems are made of units that each have their own rhythm but influence one another.</a:t>
            </a:r>
            <a:endParaRPr lang="en-US" sz="1800" dirty="0"/>
          </a:p>
        </p:txBody>
      </p:sp>
      <p:sp>
        <p:nvSpPr>
          <p:cNvPr id="7" name="Shape 4"/>
          <p:cNvSpPr/>
          <p:nvPr/>
        </p:nvSpPr>
        <p:spPr>
          <a:xfrm>
            <a:off x="594360" y="2386584"/>
            <a:ext cx="5227168" cy="0"/>
          </a:xfrm>
          <a:prstGeom prst="line">
            <a:avLst/>
          </a:prstGeom>
          <a:noFill/>
          <a:ln w="12700">
            <a:solidFill>
              <a:srgbClr val="4D4D4D"/>
            </a:solidFill>
            <a:prstDash val="solid"/>
          </a:ln>
        </p:spPr>
      </p:sp>
      <p:sp>
        <p:nvSpPr>
          <p:cNvPr id="8" name="Text 5"/>
          <p:cNvSpPr txBox="1"/>
          <p:nvPr/>
        </p:nvSpPr>
        <p:spPr>
          <a:xfrm>
            <a:off x="594360" y="2523744"/>
            <a:ext cx="5227168" cy="386588"/>
          </a:xfrm>
          <a:prstGeom prst="rect">
            <a:avLst/>
          </a:prstGeom>
          <a:noFill/>
          <a:ln/>
        </p:spPr>
        <p:txBody>
          <a:bodyPr wrap="square" lIns="0" tIns="0" rIns="0" bIns="0" rtlCol="0" anchor="t"/>
          <a:lstStyle/>
          <a:p>
            <a:pPr indent="0" marL="0">
              <a:lnSpc>
                <a:spcPct val="105000"/>
              </a:lnSpc>
              <a:buNone/>
            </a:pPr>
            <a:r>
              <a:rPr lang="en-US" sz="2200" b="1" dirty="0">
                <a:solidFill>
                  <a:srgbClr val="FFFFFF"/>
                </a:solidFill>
                <a:latin typeface="Calibri" pitchFamily="34" charset="0"/>
                <a:ea typeface="Calibri" pitchFamily="34" charset="-122"/>
                <a:cs typeface="Calibri" pitchFamily="34" charset="-120"/>
              </a:rPr>
              <a:t>Fireflies</a:t>
            </a:r>
            <a:endParaRPr lang="en-US" sz="2200" dirty="0"/>
          </a:p>
        </p:txBody>
      </p:sp>
      <p:sp>
        <p:nvSpPr>
          <p:cNvPr id="9" name="Text 6"/>
          <p:cNvSpPr txBox="1"/>
          <p:nvPr/>
        </p:nvSpPr>
        <p:spPr>
          <a:xfrm>
            <a:off x="594360" y="2889504"/>
            <a:ext cx="5227168" cy="603504"/>
          </a:xfrm>
          <a:prstGeom prst="rect">
            <a:avLst/>
          </a:prstGeom>
          <a:noFill/>
          <a:ln/>
        </p:spPr>
        <p:txBody>
          <a:bodyPr wrap="square" lIns="0" tIns="0" rIns="0" bIns="0" rtlCol="0" anchor="t"/>
          <a:lstStyle/>
          <a:p>
            <a:pPr indent="0" marL="0">
              <a:lnSpc>
                <a:spcPct val="105000"/>
              </a:lnSpc>
              <a:buNone/>
            </a:pPr>
            <a:r>
              <a:rPr lang="en-US" sz="1800" dirty="0">
                <a:solidFill>
                  <a:srgbClr val="D9D9D9"/>
                </a:solidFill>
                <a:latin typeface="Calibri" pitchFamily="34" charset="0"/>
                <a:ea typeface="Calibri" pitchFamily="34" charset="-122"/>
                <a:cs typeface="Calibri" pitchFamily="34" charset="-120"/>
              </a:rPr>
              <a:t>In parts of Southeast Asia, thousands of fireflies flash at the same moment.</a:t>
            </a:r>
            <a:endParaRPr lang="en-US" sz="1800" dirty="0"/>
          </a:p>
        </p:txBody>
      </p:sp>
      <p:sp>
        <p:nvSpPr>
          <p:cNvPr id="10" name="Shape 7"/>
          <p:cNvSpPr/>
          <p:nvPr/>
        </p:nvSpPr>
        <p:spPr>
          <a:xfrm>
            <a:off x="6370168" y="2386584"/>
            <a:ext cx="5227168" cy="0"/>
          </a:xfrm>
          <a:prstGeom prst="line">
            <a:avLst/>
          </a:prstGeom>
          <a:noFill/>
          <a:ln w="12700">
            <a:solidFill>
              <a:srgbClr val="4D4D4D"/>
            </a:solidFill>
            <a:prstDash val="solid"/>
          </a:ln>
        </p:spPr>
      </p:sp>
      <p:sp>
        <p:nvSpPr>
          <p:cNvPr id="11" name="Text 8"/>
          <p:cNvSpPr txBox="1"/>
          <p:nvPr/>
        </p:nvSpPr>
        <p:spPr>
          <a:xfrm>
            <a:off x="6370168" y="2523744"/>
            <a:ext cx="5227168" cy="386588"/>
          </a:xfrm>
          <a:prstGeom prst="rect">
            <a:avLst/>
          </a:prstGeom>
          <a:noFill/>
          <a:ln/>
        </p:spPr>
        <p:txBody>
          <a:bodyPr wrap="square" lIns="0" tIns="0" rIns="0" bIns="0" rtlCol="0" anchor="t"/>
          <a:lstStyle/>
          <a:p>
            <a:pPr indent="0" marL="0">
              <a:lnSpc>
                <a:spcPct val="105000"/>
              </a:lnSpc>
              <a:buNone/>
            </a:pPr>
            <a:r>
              <a:rPr lang="en-US" sz="2200" b="1" dirty="0">
                <a:solidFill>
                  <a:srgbClr val="FFFFFF"/>
                </a:solidFill>
                <a:latin typeface="Calibri" pitchFamily="34" charset="0"/>
                <a:ea typeface="Calibri" pitchFamily="34" charset="-122"/>
                <a:cs typeface="Calibri" pitchFamily="34" charset="-120"/>
              </a:rPr>
              <a:t>Applause</a:t>
            </a:r>
            <a:endParaRPr lang="en-US" sz="2200" dirty="0"/>
          </a:p>
        </p:txBody>
      </p:sp>
      <p:sp>
        <p:nvSpPr>
          <p:cNvPr id="12" name="Text 9"/>
          <p:cNvSpPr txBox="1"/>
          <p:nvPr/>
        </p:nvSpPr>
        <p:spPr>
          <a:xfrm>
            <a:off x="6370168" y="2889504"/>
            <a:ext cx="5227168" cy="603504"/>
          </a:xfrm>
          <a:prstGeom prst="rect">
            <a:avLst/>
          </a:prstGeom>
          <a:noFill/>
          <a:ln/>
        </p:spPr>
        <p:txBody>
          <a:bodyPr wrap="square" lIns="0" tIns="0" rIns="0" bIns="0" rtlCol="0" anchor="t"/>
          <a:lstStyle/>
          <a:p>
            <a:pPr indent="0" marL="0">
              <a:lnSpc>
                <a:spcPct val="105000"/>
              </a:lnSpc>
              <a:buNone/>
            </a:pPr>
            <a:r>
              <a:rPr lang="en-US" sz="1800" dirty="0">
                <a:solidFill>
                  <a:srgbClr val="D9D9D9"/>
                </a:solidFill>
                <a:latin typeface="Calibri" pitchFamily="34" charset="0"/>
                <a:ea typeface="Calibri" pitchFamily="34" charset="-122"/>
                <a:cs typeface="Calibri" pitchFamily="34" charset="-120"/>
              </a:rPr>
              <a:t>A clapping audience often falls into a common rhythm.</a:t>
            </a:r>
            <a:endParaRPr lang="en-US" sz="1800" dirty="0"/>
          </a:p>
        </p:txBody>
      </p:sp>
      <p:sp>
        <p:nvSpPr>
          <p:cNvPr id="13" name="Shape 10"/>
          <p:cNvSpPr/>
          <p:nvPr/>
        </p:nvSpPr>
        <p:spPr>
          <a:xfrm>
            <a:off x="594360" y="3621024"/>
            <a:ext cx="5227168" cy="0"/>
          </a:xfrm>
          <a:prstGeom prst="line">
            <a:avLst/>
          </a:prstGeom>
          <a:noFill/>
          <a:ln w="12700">
            <a:solidFill>
              <a:srgbClr val="4D4D4D"/>
            </a:solidFill>
            <a:prstDash val="solid"/>
          </a:ln>
        </p:spPr>
      </p:sp>
      <p:sp>
        <p:nvSpPr>
          <p:cNvPr id="14" name="Text 11"/>
          <p:cNvSpPr txBox="1"/>
          <p:nvPr/>
        </p:nvSpPr>
        <p:spPr>
          <a:xfrm>
            <a:off x="594360" y="3758184"/>
            <a:ext cx="5227168" cy="386588"/>
          </a:xfrm>
          <a:prstGeom prst="rect">
            <a:avLst/>
          </a:prstGeom>
          <a:noFill/>
          <a:ln/>
        </p:spPr>
        <p:txBody>
          <a:bodyPr wrap="square" lIns="0" tIns="0" rIns="0" bIns="0" rtlCol="0" anchor="t"/>
          <a:lstStyle/>
          <a:p>
            <a:pPr indent="0" marL="0">
              <a:lnSpc>
                <a:spcPct val="105000"/>
              </a:lnSpc>
              <a:buNone/>
            </a:pPr>
            <a:r>
              <a:rPr lang="en-US" sz="2200" b="1" dirty="0">
                <a:solidFill>
                  <a:srgbClr val="FFFFFF"/>
                </a:solidFill>
                <a:latin typeface="Calibri" pitchFamily="34" charset="0"/>
                <a:ea typeface="Calibri" pitchFamily="34" charset="-122"/>
                <a:cs typeface="Calibri" pitchFamily="34" charset="-120"/>
              </a:rPr>
              <a:t>Neurons</a:t>
            </a:r>
            <a:endParaRPr lang="en-US" sz="2200" dirty="0"/>
          </a:p>
        </p:txBody>
      </p:sp>
      <p:sp>
        <p:nvSpPr>
          <p:cNvPr id="15" name="Text 12"/>
          <p:cNvSpPr txBox="1"/>
          <p:nvPr/>
        </p:nvSpPr>
        <p:spPr>
          <a:xfrm>
            <a:off x="594360" y="4123944"/>
            <a:ext cx="5227168" cy="603504"/>
          </a:xfrm>
          <a:prstGeom prst="rect">
            <a:avLst/>
          </a:prstGeom>
          <a:noFill/>
          <a:ln/>
        </p:spPr>
        <p:txBody>
          <a:bodyPr wrap="square" lIns="0" tIns="0" rIns="0" bIns="0" rtlCol="0" anchor="t"/>
          <a:lstStyle/>
          <a:p>
            <a:pPr indent="0" marL="0">
              <a:lnSpc>
                <a:spcPct val="105000"/>
              </a:lnSpc>
              <a:buNone/>
            </a:pPr>
            <a:r>
              <a:rPr lang="en-US" sz="1800" dirty="0">
                <a:solidFill>
                  <a:srgbClr val="D9D9D9"/>
                </a:solidFill>
                <a:latin typeface="Calibri" pitchFamily="34" charset="0"/>
                <a:ea typeface="Calibri" pitchFamily="34" charset="-122"/>
                <a:cs typeface="Calibri" pitchFamily="34" charset="-120"/>
              </a:rPr>
              <a:t>Groups of neurons fire together, both in normal brain rhythms and in epileptic seizures.</a:t>
            </a:r>
            <a:endParaRPr lang="en-US" sz="1800" dirty="0"/>
          </a:p>
        </p:txBody>
      </p:sp>
      <p:sp>
        <p:nvSpPr>
          <p:cNvPr id="16" name="Shape 13"/>
          <p:cNvSpPr/>
          <p:nvPr/>
        </p:nvSpPr>
        <p:spPr>
          <a:xfrm>
            <a:off x="6370168" y="3621024"/>
            <a:ext cx="5227168" cy="0"/>
          </a:xfrm>
          <a:prstGeom prst="line">
            <a:avLst/>
          </a:prstGeom>
          <a:noFill/>
          <a:ln w="12700">
            <a:solidFill>
              <a:srgbClr val="4D4D4D"/>
            </a:solidFill>
            <a:prstDash val="solid"/>
          </a:ln>
        </p:spPr>
      </p:sp>
      <p:sp>
        <p:nvSpPr>
          <p:cNvPr id="17" name="Text 14"/>
          <p:cNvSpPr txBox="1"/>
          <p:nvPr/>
        </p:nvSpPr>
        <p:spPr>
          <a:xfrm>
            <a:off x="6370168" y="3758184"/>
            <a:ext cx="5227168" cy="386588"/>
          </a:xfrm>
          <a:prstGeom prst="rect">
            <a:avLst/>
          </a:prstGeom>
          <a:noFill/>
          <a:ln/>
        </p:spPr>
        <p:txBody>
          <a:bodyPr wrap="square" lIns="0" tIns="0" rIns="0" bIns="0" rtlCol="0" anchor="t"/>
          <a:lstStyle/>
          <a:p>
            <a:pPr indent="0" marL="0">
              <a:lnSpc>
                <a:spcPct val="105000"/>
              </a:lnSpc>
              <a:buNone/>
            </a:pPr>
            <a:r>
              <a:rPr lang="en-US" sz="2200" b="1" dirty="0">
                <a:solidFill>
                  <a:srgbClr val="FFFFFF"/>
                </a:solidFill>
                <a:latin typeface="Calibri" pitchFamily="34" charset="0"/>
                <a:ea typeface="Calibri" pitchFamily="34" charset="-122"/>
                <a:cs typeface="Calibri" pitchFamily="34" charset="-120"/>
              </a:rPr>
              <a:t>Financial networks</a:t>
            </a:r>
            <a:endParaRPr lang="en-US" sz="2200" dirty="0"/>
          </a:p>
        </p:txBody>
      </p:sp>
      <p:sp>
        <p:nvSpPr>
          <p:cNvPr id="18" name="Text 15"/>
          <p:cNvSpPr txBox="1"/>
          <p:nvPr/>
        </p:nvSpPr>
        <p:spPr>
          <a:xfrm>
            <a:off x="6370168" y="4123944"/>
            <a:ext cx="5227168" cy="603504"/>
          </a:xfrm>
          <a:prstGeom prst="rect">
            <a:avLst/>
          </a:prstGeom>
          <a:noFill/>
          <a:ln/>
        </p:spPr>
        <p:txBody>
          <a:bodyPr wrap="square" lIns="0" tIns="0" rIns="0" bIns="0" rtlCol="0" anchor="t"/>
          <a:lstStyle/>
          <a:p>
            <a:pPr indent="0" marL="0">
              <a:lnSpc>
                <a:spcPct val="105000"/>
              </a:lnSpc>
              <a:buNone/>
            </a:pPr>
            <a:r>
              <a:rPr lang="en-US" sz="1800" dirty="0">
                <a:solidFill>
                  <a:srgbClr val="D9D9D9"/>
                </a:solidFill>
                <a:latin typeface="Calibri" pitchFamily="34" charset="0"/>
                <a:ea typeface="Calibri" pitchFamily="34" charset="-122"/>
                <a:cs typeface="Calibri" pitchFamily="34" charset="-120"/>
              </a:rPr>
              <a:t>Traders watch one another and often copy each other’s decisions.</a:t>
            </a:r>
            <a:endParaRPr lang="en-US" sz="1800" dirty="0"/>
          </a:p>
        </p:txBody>
      </p:sp>
      <p:sp>
        <p:nvSpPr>
          <p:cNvPr id="19" name="Text 16"/>
          <p:cNvSpPr txBox="1"/>
          <p:nvPr/>
        </p:nvSpPr>
        <p:spPr>
          <a:xfrm>
            <a:off x="594360" y="4992624"/>
            <a:ext cx="1100297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In some of these systems the change from disorder to order is gradual, and in others it is sudden. This talk explains the sudden case, and how the network that connects the units affects 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Oscillator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b="1" dirty="0">
                <a:solidFill>
                  <a:srgbClr val="FFFFFF"/>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Oscillators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3</a:t>
            </a:r>
            <a:endParaRPr lang="en-US" sz="1200" dirty="0"/>
          </a:p>
        </p:txBody>
      </p:sp>
      <p:sp>
        <p:nvSpPr>
          <p:cNvPr id="6" name="Text 3"/>
          <p:cNvSpPr txBox="1"/>
          <p:nvPr/>
        </p:nvSpPr>
        <p:spPr>
          <a:xfrm>
            <a:off x="594360" y="1508760"/>
            <a:ext cx="11002975"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An oscillator is anything that repeats a cycle. Three quantities describe it.</a:t>
            </a:r>
            <a:endParaRPr lang="en-US" sz="1800" dirty="0"/>
          </a:p>
        </p:txBody>
      </p:sp>
      <p:sp>
        <p:nvSpPr>
          <p:cNvPr id="7" name="Text 4"/>
          <p:cNvSpPr txBox="1"/>
          <p:nvPr/>
        </p:nvSpPr>
        <p:spPr>
          <a:xfrm>
            <a:off x="594360" y="2107692"/>
            <a:ext cx="219456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Phase θ</a:t>
            </a:r>
            <a:endParaRPr lang="en-US" sz="1800" dirty="0"/>
          </a:p>
        </p:txBody>
      </p:sp>
      <p:sp>
        <p:nvSpPr>
          <p:cNvPr id="8" name="Text 5"/>
          <p:cNvSpPr txBox="1"/>
          <p:nvPr/>
        </p:nvSpPr>
        <p:spPr>
          <a:xfrm>
            <a:off x="2971800" y="2107692"/>
            <a:ext cx="4389120"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phase is the position of the oscillator in its cycle, measured as an angle from 0 to 360°.</a:t>
            </a:r>
            <a:endParaRPr lang="en-US" sz="1800" dirty="0"/>
          </a:p>
        </p:txBody>
      </p:sp>
      <p:sp>
        <p:nvSpPr>
          <p:cNvPr id="9" name="Text 6"/>
          <p:cNvSpPr txBox="1"/>
          <p:nvPr/>
        </p:nvSpPr>
        <p:spPr>
          <a:xfrm>
            <a:off x="594360" y="3218688"/>
            <a:ext cx="2194560" cy="603504"/>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Natural frequency ω</a:t>
            </a:r>
            <a:endParaRPr lang="en-US" sz="1800" dirty="0"/>
          </a:p>
        </p:txBody>
      </p:sp>
      <p:sp>
        <p:nvSpPr>
          <p:cNvPr id="10" name="Text 7"/>
          <p:cNvSpPr txBox="1"/>
          <p:nvPr/>
        </p:nvSpPr>
        <p:spPr>
          <a:xfrm>
            <a:off x="2971800" y="3218688"/>
            <a:ext cx="4389120" cy="1161288"/>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natural frequency is the speed the oscillator would have if it were left alone. Every oscillator has a slightly different one.</a:t>
            </a:r>
            <a:endParaRPr lang="en-US" sz="1800" dirty="0"/>
          </a:p>
        </p:txBody>
      </p:sp>
      <p:sp>
        <p:nvSpPr>
          <p:cNvPr id="11" name="Text 8"/>
          <p:cNvSpPr txBox="1"/>
          <p:nvPr/>
        </p:nvSpPr>
        <p:spPr>
          <a:xfrm>
            <a:off x="594360" y="4608576"/>
            <a:ext cx="219456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Coupling K</a:t>
            </a:r>
            <a:endParaRPr lang="en-US" sz="1800" dirty="0"/>
          </a:p>
        </p:txBody>
      </p:sp>
      <p:sp>
        <p:nvSpPr>
          <p:cNvPr id="12" name="Text 9"/>
          <p:cNvSpPr txBox="1"/>
          <p:nvPr/>
        </p:nvSpPr>
        <p:spPr>
          <a:xfrm>
            <a:off x="2971800" y="4608576"/>
            <a:ext cx="4389120"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coupling strength sets how strongly the oscillators pull on one another.</a:t>
            </a:r>
            <a:endParaRPr lang="en-US" sz="1800" dirty="0"/>
          </a:p>
        </p:txBody>
      </p:sp>
      <p:sp>
        <p:nvSpPr>
          <p:cNvPr id="13" name="Shape 10"/>
          <p:cNvSpPr/>
          <p:nvPr/>
        </p:nvSpPr>
        <p:spPr>
          <a:xfrm>
            <a:off x="7589520" y="2107692"/>
            <a:ext cx="0" cy="3108960"/>
          </a:xfrm>
          <a:prstGeom prst="line">
            <a:avLst/>
          </a:prstGeom>
          <a:noFill/>
          <a:ln w="12700">
            <a:solidFill>
              <a:srgbClr val="4D4D4D"/>
            </a:solidFill>
            <a:prstDash val="solid"/>
          </a:ln>
        </p:spPr>
      </p:sp>
      <p:sp>
        <p:nvSpPr>
          <p:cNvPr id="14" name="Text 11"/>
          <p:cNvSpPr txBox="1"/>
          <p:nvPr/>
        </p:nvSpPr>
        <p:spPr>
          <a:xfrm>
            <a:off x="7818120" y="2107692"/>
            <a:ext cx="3779215" cy="262636"/>
          </a:xfrm>
          <a:prstGeom prst="rect">
            <a:avLst/>
          </a:prstGeom>
          <a:noFill/>
          <a:ln/>
        </p:spPr>
        <p:txBody>
          <a:bodyPr wrap="square" lIns="0" tIns="0" rIns="0" bIns="0" rtlCol="0" anchor="t"/>
          <a:lstStyle/>
          <a:p>
            <a:pPr indent="0" marL="0">
              <a:lnSpc>
                <a:spcPct val="105000"/>
              </a:lnSpc>
              <a:buNone/>
            </a:pPr>
            <a:r>
              <a:rPr lang="en-US" sz="1400" b="1" spc="200" kern="0" dirty="0">
                <a:solidFill>
                  <a:srgbClr val="BFBFBF"/>
                </a:solidFill>
                <a:latin typeface="Calibri" pitchFamily="34" charset="0"/>
                <a:ea typeface="Calibri" pitchFamily="34" charset="-122"/>
                <a:cs typeface="Calibri" pitchFamily="34" charset="-120"/>
              </a:rPr>
              <a:t>EXAMPLES</a:t>
            </a:r>
            <a:endParaRPr lang="en-US" sz="1400" dirty="0"/>
          </a:p>
        </p:txBody>
      </p:sp>
      <p:sp>
        <p:nvSpPr>
          <p:cNvPr id="15" name="Text 12"/>
          <p:cNvSpPr txBox="1"/>
          <p:nvPr/>
        </p:nvSpPr>
        <p:spPr>
          <a:xfrm>
            <a:off x="7818120" y="2534920"/>
            <a:ext cx="377921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For a pendulum, the phase is the angle of the swing.</a:t>
            </a:r>
            <a:endParaRPr lang="en-US" sz="1800" dirty="0"/>
          </a:p>
        </p:txBody>
      </p:sp>
      <p:sp>
        <p:nvSpPr>
          <p:cNvPr id="16" name="Text 13"/>
          <p:cNvSpPr txBox="1"/>
          <p:nvPr/>
        </p:nvSpPr>
        <p:spPr>
          <a:xfrm>
            <a:off x="7818120" y="3303016"/>
            <a:ext cx="377921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For a heart cell, it is the point reached in the beat.</a:t>
            </a:r>
            <a:endParaRPr lang="en-US" sz="1800" dirty="0"/>
          </a:p>
        </p:txBody>
      </p:sp>
      <p:sp>
        <p:nvSpPr>
          <p:cNvPr id="17" name="Text 14"/>
          <p:cNvSpPr txBox="1"/>
          <p:nvPr/>
        </p:nvSpPr>
        <p:spPr>
          <a:xfrm>
            <a:off x="7818120" y="4071112"/>
            <a:ext cx="377921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For a firefly, it is the time since its last flash.</a:t>
            </a:r>
            <a:endParaRPr lang="en-US" sz="1800" dirty="0"/>
          </a:p>
        </p:txBody>
      </p:sp>
      <p:sp>
        <p:nvSpPr>
          <p:cNvPr id="18" name="Text 15"/>
          <p:cNvSpPr txBox="1"/>
          <p:nvPr/>
        </p:nvSpPr>
        <p:spPr>
          <a:xfrm>
            <a:off x="7818120" y="4839208"/>
            <a:ext cx="377921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For a trader, it can be read as the position in a cycle of buying and selling.</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The Kuramoto model (197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b="1" dirty="0">
                <a:solidFill>
                  <a:srgbClr val="FFFFFF"/>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Kuramoto model (1975)</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4</a:t>
            </a:r>
            <a:endParaRPr lang="en-US" sz="1200" dirty="0"/>
          </a:p>
        </p:txBody>
      </p:sp>
      <p:pic>
        <p:nvPicPr>
          <p:cNvPr id="6" name="Image 0" descr="Equation k_eq">    </p:cNvPr>
          <p:cNvPicPr>
            <a:picLocks noChangeAspect="1"/>
          </p:cNvPicPr>
          <p:nvPr/>
        </p:nvPicPr>
        <p:blipFill>
          <a:blip r:embed="rId1"/>
          <a:stretch>
            <a:fillRect/>
          </a:stretch>
        </p:blipFill>
        <p:spPr>
          <a:xfrm>
            <a:off x="594360" y="1508760"/>
            <a:ext cx="4339742" cy="1177747"/>
          </a:xfrm>
          <a:prstGeom prst="rect">
            <a:avLst/>
          </a:prstGeom>
        </p:spPr>
      </p:pic>
      <p:pic>
        <p:nvPicPr>
          <p:cNvPr id="7" name="Image 1" descr="Equation k_th">    </p:cNvPr>
          <p:cNvPicPr>
            <a:picLocks noChangeAspect="1"/>
          </p:cNvPicPr>
          <p:nvPr/>
        </p:nvPicPr>
        <p:blipFill>
          <a:blip r:embed="rId2"/>
          <a:stretch>
            <a:fillRect/>
          </a:stretch>
        </p:blipFill>
        <p:spPr>
          <a:xfrm>
            <a:off x="594360" y="2915107"/>
            <a:ext cx="296266" cy="356616"/>
          </a:xfrm>
          <a:prstGeom prst="rect">
            <a:avLst/>
          </a:prstGeom>
        </p:spPr>
      </p:pic>
      <p:sp>
        <p:nvSpPr>
          <p:cNvPr id="8" name="Text 3"/>
          <p:cNvSpPr txBox="1"/>
          <p:nvPr/>
        </p:nvSpPr>
        <p:spPr>
          <a:xfrm>
            <a:off x="1965960" y="2953969"/>
            <a:ext cx="3901288"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phase of oscillator i.</a:t>
            </a:r>
            <a:endParaRPr lang="en-US" sz="1800" dirty="0"/>
          </a:p>
        </p:txBody>
      </p:sp>
      <p:pic>
        <p:nvPicPr>
          <p:cNvPr id="9" name="Image 2" descr="Equation k_dth">    </p:cNvPr>
          <p:cNvPicPr>
            <a:picLocks noChangeAspect="1"/>
          </p:cNvPicPr>
          <p:nvPr/>
        </p:nvPicPr>
        <p:blipFill>
          <a:blip r:embed="rId3"/>
          <a:stretch>
            <a:fillRect/>
          </a:stretch>
        </p:blipFill>
        <p:spPr>
          <a:xfrm>
            <a:off x="594360" y="3568446"/>
            <a:ext cx="869594" cy="389534"/>
          </a:xfrm>
          <a:prstGeom prst="rect">
            <a:avLst/>
          </a:prstGeom>
        </p:spPr>
      </p:pic>
      <p:sp>
        <p:nvSpPr>
          <p:cNvPr id="10" name="Text 4"/>
          <p:cNvSpPr txBox="1"/>
          <p:nvPr/>
        </p:nvSpPr>
        <p:spPr>
          <a:xfrm>
            <a:off x="1965960" y="3344875"/>
            <a:ext cx="390128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rate at which that phase changes, which is the actual speed of the oscillator.</a:t>
            </a:r>
            <a:endParaRPr lang="en-US" sz="1800" dirty="0"/>
          </a:p>
        </p:txBody>
      </p:sp>
      <p:pic>
        <p:nvPicPr>
          <p:cNvPr id="11" name="Image 3" descr="Equation k_om">    </p:cNvPr>
          <p:cNvPicPr>
            <a:picLocks noChangeAspect="1"/>
          </p:cNvPicPr>
          <p:nvPr/>
        </p:nvPicPr>
        <p:blipFill>
          <a:blip r:embed="rId4"/>
          <a:stretch>
            <a:fillRect/>
          </a:stretch>
        </p:blipFill>
        <p:spPr>
          <a:xfrm>
            <a:off x="594360" y="4254703"/>
            <a:ext cx="342900" cy="356616"/>
          </a:xfrm>
          <a:prstGeom prst="rect">
            <a:avLst/>
          </a:prstGeom>
        </p:spPr>
      </p:pic>
      <p:sp>
        <p:nvSpPr>
          <p:cNvPr id="12" name="Text 5"/>
          <p:cNvSpPr txBox="1"/>
          <p:nvPr/>
        </p:nvSpPr>
        <p:spPr>
          <a:xfrm>
            <a:off x="1965960" y="4293565"/>
            <a:ext cx="3901288"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its natural frequency.</a:t>
            </a:r>
            <a:endParaRPr lang="en-US" sz="1800" dirty="0"/>
          </a:p>
        </p:txBody>
      </p:sp>
      <p:pic>
        <p:nvPicPr>
          <p:cNvPr id="13" name="Image 4" descr="Equation k_K">    </p:cNvPr>
          <p:cNvPicPr>
            <a:picLocks noChangeAspect="1"/>
          </p:cNvPicPr>
          <p:nvPr/>
        </p:nvPicPr>
        <p:blipFill>
          <a:blip r:embed="rId5"/>
          <a:stretch>
            <a:fillRect/>
          </a:stretch>
        </p:blipFill>
        <p:spPr>
          <a:xfrm>
            <a:off x="594360" y="4684471"/>
            <a:ext cx="340157" cy="356616"/>
          </a:xfrm>
          <a:prstGeom prst="rect">
            <a:avLst/>
          </a:prstGeom>
        </p:spPr>
      </p:pic>
      <p:sp>
        <p:nvSpPr>
          <p:cNvPr id="14" name="Text 6"/>
          <p:cNvSpPr txBox="1"/>
          <p:nvPr/>
        </p:nvSpPr>
        <p:spPr>
          <a:xfrm>
            <a:off x="1965960" y="4723333"/>
            <a:ext cx="3901288"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coupling strength.</a:t>
            </a:r>
            <a:endParaRPr lang="en-US" sz="1800" dirty="0"/>
          </a:p>
        </p:txBody>
      </p:sp>
      <p:pic>
        <p:nvPicPr>
          <p:cNvPr id="15" name="Image 5" descr="Equation k_N">    </p:cNvPr>
          <p:cNvPicPr>
            <a:picLocks noChangeAspect="1"/>
          </p:cNvPicPr>
          <p:nvPr/>
        </p:nvPicPr>
        <p:blipFill>
          <a:blip r:embed="rId6"/>
          <a:stretch>
            <a:fillRect/>
          </a:stretch>
        </p:blipFill>
        <p:spPr>
          <a:xfrm>
            <a:off x="6324448" y="3155137"/>
            <a:ext cx="323698" cy="356616"/>
          </a:xfrm>
          <a:prstGeom prst="rect">
            <a:avLst/>
          </a:prstGeom>
        </p:spPr>
      </p:pic>
      <p:sp>
        <p:nvSpPr>
          <p:cNvPr id="16" name="Text 7"/>
          <p:cNvSpPr txBox="1"/>
          <p:nvPr/>
        </p:nvSpPr>
        <p:spPr>
          <a:xfrm>
            <a:off x="8244688" y="2915107"/>
            <a:ext cx="335264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number of oscillators, so dividing by N turns the sum into an average.</a:t>
            </a:r>
            <a:endParaRPr lang="en-US" sz="1800" dirty="0"/>
          </a:p>
        </p:txBody>
      </p:sp>
      <p:pic>
        <p:nvPicPr>
          <p:cNvPr id="17" name="Image 6" descr="Equation k_sin">    </p:cNvPr>
          <p:cNvPicPr>
            <a:picLocks noChangeAspect="1"/>
          </p:cNvPicPr>
          <p:nvPr/>
        </p:nvPicPr>
        <p:blipFill>
          <a:blip r:embed="rId7"/>
          <a:stretch>
            <a:fillRect/>
          </a:stretch>
        </p:blipFill>
        <p:spPr>
          <a:xfrm>
            <a:off x="6324448" y="4461358"/>
            <a:ext cx="1473098" cy="400507"/>
          </a:xfrm>
          <a:prstGeom prst="rect">
            <a:avLst/>
          </a:prstGeom>
        </p:spPr>
      </p:pic>
      <p:sp>
        <p:nvSpPr>
          <p:cNvPr id="18" name="Text 8"/>
          <p:cNvSpPr txBox="1"/>
          <p:nvPr/>
        </p:nvSpPr>
        <p:spPr>
          <a:xfrm>
            <a:off x="8244688" y="3824935"/>
            <a:ext cx="3352648" cy="171907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pull from oscillator j. It is positive when j is ahead, so i speeds up, and negative when j is behind, so i slows down. It is zero when the two are in step.</a:t>
            </a:r>
            <a:endParaRPr lang="en-US" sz="1800" dirty="0"/>
          </a:p>
        </p:txBody>
      </p:sp>
      <p:sp>
        <p:nvSpPr>
          <p:cNvPr id="19" name="Text 9"/>
          <p:cNvSpPr txBox="1"/>
          <p:nvPr/>
        </p:nvSpPr>
        <p:spPr>
          <a:xfrm>
            <a:off x="594360" y="5662879"/>
            <a:ext cx="11002975" cy="603504"/>
          </a:xfrm>
          <a:prstGeom prst="rect">
            <a:avLst/>
          </a:prstGeom>
          <a:noFill/>
          <a:ln/>
        </p:spPr>
        <p:txBody>
          <a:bodyPr wrap="square" lIns="0" tIns="0" rIns="0" bIns="0" rtlCol="0" anchor="t"/>
          <a:lstStyle/>
          <a:p>
            <a:pPr indent="0" marL="0">
              <a:lnSpc>
                <a:spcPct val="105000"/>
              </a:lnSpc>
              <a:buNone/>
            </a:pPr>
            <a:r>
              <a:rPr lang="en-US" sz="1800" dirty="0">
                <a:solidFill>
                  <a:srgbClr val="D9D9D9"/>
                </a:solidFill>
                <a:latin typeface="Calibri" pitchFamily="34" charset="0"/>
                <a:ea typeface="Calibri" pitchFamily="34" charset="-122"/>
                <a:cs typeface="Calibri" pitchFamily="34" charset="-120"/>
              </a:rPr>
              <a:t>With weak coupling every oscillator runs at its own pace. With strong enough coupling they lock together.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The order parameter">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b="1" dirty="0">
                <a:solidFill>
                  <a:srgbClr val="FFFFFF"/>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order parameter</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5</a:t>
            </a:r>
            <a:endParaRPr lang="en-US" sz="1200" dirty="0"/>
          </a:p>
        </p:txBody>
      </p:sp>
      <p:pic>
        <p:nvPicPr>
          <p:cNvPr id="6" name="Image 0" descr="Equation o_eq">    </p:cNvPr>
          <p:cNvPicPr>
            <a:picLocks noChangeAspect="1"/>
          </p:cNvPicPr>
          <p:nvPr/>
        </p:nvPicPr>
        <p:blipFill>
          <a:blip r:embed="rId1"/>
          <a:stretch>
            <a:fillRect/>
          </a:stretch>
        </p:blipFill>
        <p:spPr>
          <a:xfrm>
            <a:off x="594360" y="1508760"/>
            <a:ext cx="2713939" cy="1177747"/>
          </a:xfrm>
          <a:prstGeom prst="rect">
            <a:avLst/>
          </a:prstGeom>
        </p:spPr>
      </p:pic>
      <p:pic>
        <p:nvPicPr>
          <p:cNvPr id="7" name="Image 1" descr="Equation o_e">    </p:cNvPr>
          <p:cNvPicPr>
            <a:picLocks noChangeAspect="1"/>
          </p:cNvPicPr>
          <p:nvPr/>
        </p:nvPicPr>
        <p:blipFill>
          <a:blip r:embed="rId2"/>
          <a:stretch>
            <a:fillRect/>
          </a:stretch>
        </p:blipFill>
        <p:spPr>
          <a:xfrm>
            <a:off x="594360" y="3478378"/>
            <a:ext cx="455371" cy="359359"/>
          </a:xfrm>
          <a:prstGeom prst="rect">
            <a:avLst/>
          </a:prstGeom>
        </p:spPr>
      </p:pic>
      <p:sp>
        <p:nvSpPr>
          <p:cNvPr id="8" name="Text 3"/>
          <p:cNvSpPr txBox="1"/>
          <p:nvPr/>
        </p:nvSpPr>
        <p:spPr>
          <a:xfrm>
            <a:off x="1874520" y="2960827"/>
            <a:ext cx="3992728" cy="1440180"/>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an arrow of length one pointing at the phase of oscillator j, which is the point (cos θ, sin θ) on a circle. Here i is the imaginary unit.</a:t>
            </a:r>
            <a:endParaRPr lang="en-US" sz="1800" dirty="0"/>
          </a:p>
        </p:txBody>
      </p:sp>
      <p:pic>
        <p:nvPicPr>
          <p:cNvPr id="9" name="Image 2" descr="Equation o_avg">    </p:cNvPr>
          <p:cNvPicPr>
            <a:picLocks noChangeAspect="1"/>
          </p:cNvPicPr>
          <p:nvPr/>
        </p:nvPicPr>
        <p:blipFill>
          <a:blip r:embed="rId3"/>
          <a:stretch>
            <a:fillRect/>
          </a:stretch>
        </p:blipFill>
        <p:spPr>
          <a:xfrm>
            <a:off x="594360" y="4465015"/>
            <a:ext cx="864108" cy="1009498"/>
          </a:xfrm>
          <a:prstGeom prst="rect">
            <a:avLst/>
          </a:prstGeom>
        </p:spPr>
      </p:pic>
      <p:sp>
        <p:nvSpPr>
          <p:cNvPr id="10" name="Text 4"/>
          <p:cNvSpPr txBox="1"/>
          <p:nvPr/>
        </p:nvSpPr>
        <p:spPr>
          <a:xfrm>
            <a:off x="1874520" y="4690872"/>
            <a:ext cx="3992728"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averages these arrows over all N oscillators.</a:t>
            </a:r>
            <a:endParaRPr lang="en-US" sz="1800" dirty="0"/>
          </a:p>
        </p:txBody>
      </p:sp>
      <p:pic>
        <p:nvPicPr>
          <p:cNvPr id="11" name="Image 3" descr="Equation o_psi">    </p:cNvPr>
          <p:cNvPicPr>
            <a:picLocks noChangeAspect="1"/>
          </p:cNvPicPr>
          <p:nvPr/>
        </p:nvPicPr>
        <p:blipFill>
          <a:blip r:embed="rId4"/>
          <a:stretch>
            <a:fillRect/>
          </a:stretch>
        </p:blipFill>
        <p:spPr>
          <a:xfrm>
            <a:off x="594360" y="5824271"/>
            <a:ext cx="279806" cy="356616"/>
          </a:xfrm>
          <a:prstGeom prst="rect">
            <a:avLst/>
          </a:prstGeom>
        </p:spPr>
      </p:pic>
      <p:sp>
        <p:nvSpPr>
          <p:cNvPr id="12" name="Text 5"/>
          <p:cNvSpPr txBox="1"/>
          <p:nvPr/>
        </p:nvSpPr>
        <p:spPr>
          <a:xfrm>
            <a:off x="1874520" y="5584241"/>
            <a:ext cx="399272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direction of the average arrow, which is the average phase of the group.</a:t>
            </a:r>
            <a:endParaRPr lang="en-US" sz="1800" dirty="0"/>
          </a:p>
        </p:txBody>
      </p:sp>
      <p:pic>
        <p:nvPicPr>
          <p:cNvPr id="13" name="Image 4" descr="Equation o_R">    </p:cNvPr>
          <p:cNvPicPr>
            <a:picLocks noChangeAspect="1"/>
          </p:cNvPicPr>
          <p:nvPr/>
        </p:nvPicPr>
        <p:blipFill>
          <a:blip r:embed="rId5"/>
          <a:stretch>
            <a:fillRect/>
          </a:stretch>
        </p:blipFill>
        <p:spPr>
          <a:xfrm>
            <a:off x="6324448" y="3340303"/>
            <a:ext cx="312725" cy="356616"/>
          </a:xfrm>
          <a:prstGeom prst="rect">
            <a:avLst/>
          </a:prstGeom>
        </p:spPr>
      </p:pic>
      <p:sp>
        <p:nvSpPr>
          <p:cNvPr id="14" name="Text 6"/>
          <p:cNvSpPr txBox="1"/>
          <p:nvPr/>
        </p:nvSpPr>
        <p:spPr>
          <a:xfrm>
            <a:off x="7238848" y="2960827"/>
            <a:ext cx="4358488" cy="1161288"/>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length of the average arrow. It is 0 when the phases are spread out and 1 when all oscillators are in step.</a:t>
            </a:r>
            <a:endParaRPr lang="en-US" sz="1800" dirty="0"/>
          </a:p>
        </p:txBody>
      </p:sp>
      <p:pic>
        <p:nvPicPr>
          <p:cNvPr id="15" name="Image 5" descr="Equation o_r">    </p:cNvPr>
          <p:cNvPicPr>
            <a:picLocks noChangeAspect="1"/>
          </p:cNvPicPr>
          <p:nvPr/>
        </p:nvPicPr>
        <p:blipFill>
          <a:blip r:embed="rId6"/>
          <a:stretch>
            <a:fillRect/>
          </a:stretch>
        </p:blipFill>
        <p:spPr>
          <a:xfrm>
            <a:off x="6324448" y="4565599"/>
            <a:ext cx="290779" cy="356616"/>
          </a:xfrm>
          <a:prstGeom prst="rect">
            <a:avLst/>
          </a:prstGeom>
        </p:spPr>
      </p:pic>
      <p:sp>
        <p:nvSpPr>
          <p:cNvPr id="16" name="Text 7"/>
          <p:cNvSpPr txBox="1"/>
          <p:nvPr/>
        </p:nvSpPr>
        <p:spPr>
          <a:xfrm>
            <a:off x="7238848" y="4186123"/>
            <a:ext cx="4358488" cy="1161288"/>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same average taken only over the neighbours of node i. It is called the local order parameter and is used later in the talk.</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e mean-field form of the model">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b="1" dirty="0">
                <a:solidFill>
                  <a:srgbClr val="FFFFFF"/>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mean-field form of the model</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6</a:t>
            </a:r>
            <a:endParaRPr lang="en-US" sz="1200" dirty="0"/>
          </a:p>
        </p:txBody>
      </p:sp>
      <p:sp>
        <p:nvSpPr>
          <p:cNvPr id="6" name="Text 3"/>
          <p:cNvSpPr txBox="1"/>
          <p:nvPr/>
        </p:nvSpPr>
        <p:spPr>
          <a:xfrm>
            <a:off x="594360" y="1508760"/>
            <a:ext cx="11002975" cy="603504"/>
          </a:xfrm>
          <a:prstGeom prst="rect">
            <a:avLst/>
          </a:prstGeom>
          <a:noFill/>
          <a:ln/>
        </p:spPr>
        <p:txBody>
          <a:bodyPr wrap="square" lIns="0" tIns="0" rIns="0" bIns="0" rtlCol="0" anchor="t"/>
          <a:lstStyle/>
          <a:p>
            <a:pPr indent="0" marL="0">
              <a:lnSpc>
                <a:spcPct val="105000"/>
              </a:lnSpc>
              <a:buNone/>
            </a:pPr>
            <a:r>
              <a:rPr lang="en-US" sz="1800" dirty="0">
                <a:solidFill>
                  <a:srgbClr val="D9D9D9"/>
                </a:solidFill>
                <a:latin typeface="Calibri" pitchFamily="34" charset="0"/>
                <a:ea typeface="Calibri" pitchFamily="34" charset="-122"/>
                <a:cs typeface="Calibri" pitchFamily="34" charset="-120"/>
              </a:rPr>
              <a:t>Multiplying the definition of R by the complex conjugate of the arrow of oscillator i, and taking the imaginary part, turns the sum over all oscillators into a single term.</a:t>
            </a:r>
            <a:endParaRPr lang="en-US" sz="1800" dirty="0"/>
          </a:p>
        </p:txBody>
      </p:sp>
      <p:pic>
        <p:nvPicPr>
          <p:cNvPr id="7" name="Image 0" descr="Equation m_eq1">    </p:cNvPr>
          <p:cNvPicPr>
            <a:picLocks noChangeAspect="1"/>
          </p:cNvPicPr>
          <p:nvPr/>
        </p:nvPicPr>
        <p:blipFill>
          <a:blip r:embed="rId1"/>
          <a:stretch>
            <a:fillRect/>
          </a:stretch>
        </p:blipFill>
        <p:spPr>
          <a:xfrm>
            <a:off x="594360" y="2295144"/>
            <a:ext cx="5095037" cy="1177747"/>
          </a:xfrm>
          <a:prstGeom prst="rect">
            <a:avLst/>
          </a:prstGeom>
        </p:spPr>
      </p:pic>
      <p:sp>
        <p:nvSpPr>
          <p:cNvPr id="8" name="Text 4"/>
          <p:cNvSpPr txBox="1"/>
          <p:nvPr/>
        </p:nvSpPr>
        <p:spPr>
          <a:xfrm>
            <a:off x="594360" y="3701491"/>
            <a:ext cx="11002975" cy="324612"/>
          </a:xfrm>
          <a:prstGeom prst="rect">
            <a:avLst/>
          </a:prstGeom>
          <a:noFill/>
          <a:ln/>
        </p:spPr>
        <p:txBody>
          <a:bodyPr wrap="square" lIns="0" tIns="0" rIns="0" bIns="0" rtlCol="0" anchor="t"/>
          <a:lstStyle/>
          <a:p>
            <a:pPr indent="0" marL="0">
              <a:lnSpc>
                <a:spcPct val="105000"/>
              </a:lnSpc>
              <a:buNone/>
            </a:pPr>
            <a:r>
              <a:rPr lang="en-US" sz="1800" dirty="0">
                <a:solidFill>
                  <a:srgbClr val="D9D9D9"/>
                </a:solidFill>
                <a:latin typeface="Calibri" pitchFamily="34" charset="0"/>
                <a:ea typeface="Calibri" pitchFamily="34" charset="-122"/>
                <a:cs typeface="Calibri" pitchFamily="34" charset="-120"/>
              </a:rPr>
              <a:t>The Kuramoto model therefore becomes the following equation.</a:t>
            </a:r>
            <a:endParaRPr lang="en-US" sz="1800" dirty="0"/>
          </a:p>
        </p:txBody>
      </p:sp>
      <p:pic>
        <p:nvPicPr>
          <p:cNvPr id="9" name="Image 1" descr="Equation m_eq2">    </p:cNvPr>
          <p:cNvPicPr>
            <a:picLocks noChangeAspect="1"/>
          </p:cNvPicPr>
          <p:nvPr/>
        </p:nvPicPr>
        <p:blipFill>
          <a:blip r:embed="rId2"/>
          <a:stretch>
            <a:fillRect/>
          </a:stretch>
        </p:blipFill>
        <p:spPr>
          <a:xfrm>
            <a:off x="594360" y="4208983"/>
            <a:ext cx="4006901" cy="828904"/>
          </a:xfrm>
          <a:prstGeom prst="rect">
            <a:avLst/>
          </a:prstGeom>
        </p:spPr>
      </p:pic>
      <p:sp>
        <p:nvSpPr>
          <p:cNvPr id="10" name="Text 5"/>
          <p:cNvSpPr txBox="1"/>
          <p:nvPr/>
        </p:nvSpPr>
        <p:spPr>
          <a:xfrm>
            <a:off x="594360" y="5312207"/>
            <a:ext cx="1100297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Each oscillator is pulled towards the average phase ψ with a strength KR. The pull grows as the group becomes more synchronized, so synchrony reinforces itself. R must also be consistent with the motion it produces, which is the condition solved on the next slide.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Locked and drifting oscillator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b="1" dirty="0">
                <a:solidFill>
                  <a:srgbClr val="FFFFFF"/>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Locked and drifting oscillators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7</a:t>
            </a:r>
            <a:endParaRPr lang="en-US" sz="1200" dirty="0"/>
          </a:p>
        </p:txBody>
      </p:sp>
      <p:sp>
        <p:nvSpPr>
          <p:cNvPr id="6" name="Text 3"/>
          <p:cNvSpPr txBox="1"/>
          <p:nvPr/>
        </p:nvSpPr>
        <p:spPr>
          <a:xfrm>
            <a:off x="594360" y="1508760"/>
            <a:ext cx="5852160" cy="1161288"/>
          </a:xfrm>
          <a:prstGeom prst="rect">
            <a:avLst/>
          </a:prstGeom>
          <a:noFill/>
          <a:ln/>
        </p:spPr>
        <p:txBody>
          <a:bodyPr wrap="square" lIns="0" tIns="0" rIns="0" bIns="0" rtlCol="0" anchor="t"/>
          <a:lstStyle/>
          <a:p>
            <a:pPr indent="0" marL="0">
              <a:lnSpc>
                <a:spcPct val="105000"/>
              </a:lnSpc>
              <a:buNone/>
            </a:pPr>
            <a:r>
              <a:rPr lang="en-US" sz="1800" dirty="0">
                <a:solidFill>
                  <a:srgbClr val="D9D9D9"/>
                </a:solidFill>
                <a:latin typeface="Calibri" pitchFamily="34" charset="0"/>
                <a:ea typeface="Calibri" pitchFamily="34" charset="-122"/>
                <a:cs typeface="Calibri" pitchFamily="34" charset="-120"/>
              </a:rPr>
              <a:t>Measured relative to the group, an oscillator is locked when its phase stops changing. Setting its speed to zero in the mean-field equation gives the condition below.</a:t>
            </a:r>
            <a:endParaRPr lang="en-US" sz="1800" dirty="0"/>
          </a:p>
        </p:txBody>
      </p:sp>
      <p:pic>
        <p:nvPicPr>
          <p:cNvPr id="7" name="Image 0" descr="Equation l_eq1">    </p:cNvPr>
          <p:cNvPicPr>
            <a:picLocks noChangeAspect="1"/>
          </p:cNvPicPr>
          <p:nvPr/>
        </p:nvPicPr>
        <p:blipFill>
          <a:blip r:embed="rId1"/>
          <a:stretch>
            <a:fillRect/>
          </a:stretch>
        </p:blipFill>
        <p:spPr>
          <a:xfrm>
            <a:off x="594360" y="2807208"/>
            <a:ext cx="2537917" cy="683514"/>
          </a:xfrm>
          <a:prstGeom prst="rect">
            <a:avLst/>
          </a:prstGeom>
        </p:spPr>
      </p:pic>
      <p:sp>
        <p:nvSpPr>
          <p:cNvPr id="8" name="Text 4"/>
          <p:cNvSpPr txBox="1"/>
          <p:nvPr/>
        </p:nvSpPr>
        <p:spPr>
          <a:xfrm>
            <a:off x="594360" y="3627882"/>
            <a:ext cx="5852160"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A sine cannot be larger than 1, so locking is possible only when the following holds.</a:t>
            </a:r>
            <a:endParaRPr lang="en-US" sz="1800" dirty="0"/>
          </a:p>
        </p:txBody>
      </p:sp>
      <p:pic>
        <p:nvPicPr>
          <p:cNvPr id="9" name="Image 1" descr="Equation l_eq2">    </p:cNvPr>
          <p:cNvPicPr>
            <a:picLocks noChangeAspect="1"/>
          </p:cNvPicPr>
          <p:nvPr/>
        </p:nvPicPr>
        <p:blipFill>
          <a:blip r:embed="rId2"/>
          <a:stretch>
            <a:fillRect/>
          </a:stretch>
        </p:blipFill>
        <p:spPr>
          <a:xfrm>
            <a:off x="594360" y="4341114"/>
            <a:ext cx="1542364" cy="421996"/>
          </a:xfrm>
          <a:prstGeom prst="rect">
            <a:avLst/>
          </a:prstGeom>
        </p:spPr>
      </p:pic>
      <p:sp>
        <p:nvSpPr>
          <p:cNvPr id="10" name="Text 5"/>
          <p:cNvSpPr txBox="1"/>
          <p:nvPr/>
        </p:nvSpPr>
        <p:spPr>
          <a:xfrm>
            <a:off x="594360" y="4900270"/>
            <a:ext cx="5852160"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Oscillators that satisfy this condition lock to the group. Faster ones keep drifting around the circle and, on average, do not contribute to R.</a:t>
            </a:r>
            <a:endParaRPr lang="en-US" sz="1800" dirty="0"/>
          </a:p>
        </p:txBody>
      </p:sp>
      <p:sp>
        <p:nvSpPr>
          <p:cNvPr id="11" name="Shape 6"/>
          <p:cNvSpPr/>
          <p:nvPr/>
        </p:nvSpPr>
        <p:spPr>
          <a:xfrm>
            <a:off x="6720840" y="1508760"/>
            <a:ext cx="0" cy="4480560"/>
          </a:xfrm>
          <a:prstGeom prst="line">
            <a:avLst/>
          </a:prstGeom>
          <a:noFill/>
          <a:ln w="12700">
            <a:solidFill>
              <a:srgbClr val="4D4D4D"/>
            </a:solidFill>
            <a:prstDash val="solid"/>
          </a:ln>
        </p:spPr>
      </p:sp>
      <p:sp>
        <p:nvSpPr>
          <p:cNvPr id="12" name="Text 7"/>
          <p:cNvSpPr txBox="1"/>
          <p:nvPr/>
        </p:nvSpPr>
        <p:spPr>
          <a:xfrm>
            <a:off x="6995160" y="1508760"/>
            <a:ext cx="4602175" cy="262636"/>
          </a:xfrm>
          <a:prstGeom prst="rect">
            <a:avLst/>
          </a:prstGeom>
          <a:noFill/>
          <a:ln/>
        </p:spPr>
        <p:txBody>
          <a:bodyPr wrap="square" lIns="0" tIns="0" rIns="0" bIns="0" rtlCol="0" anchor="t"/>
          <a:lstStyle/>
          <a:p>
            <a:pPr indent="0" marL="0">
              <a:lnSpc>
                <a:spcPct val="105000"/>
              </a:lnSpc>
              <a:buNone/>
            </a:pPr>
            <a:r>
              <a:rPr lang="en-US" sz="1400" b="1" spc="200" kern="0" dirty="0">
                <a:solidFill>
                  <a:srgbClr val="BFBFBF"/>
                </a:solidFill>
                <a:latin typeface="Calibri" pitchFamily="34" charset="0"/>
                <a:ea typeface="Calibri" pitchFamily="34" charset="-122"/>
                <a:cs typeface="Calibri" pitchFamily="34" charset="-120"/>
              </a:rPr>
              <a:t>SELF-CONSISTENCY</a:t>
            </a:r>
            <a:endParaRPr lang="en-US" sz="1400" dirty="0"/>
          </a:p>
        </p:txBody>
      </p:sp>
      <p:sp>
        <p:nvSpPr>
          <p:cNvPr id="13" name="Text 8"/>
          <p:cNvSpPr txBox="1"/>
          <p:nvPr/>
        </p:nvSpPr>
        <p:spPr>
          <a:xfrm>
            <a:off x="6995160" y="1908556"/>
            <a:ext cx="460217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R must equal the contribution of the locked oscillators, where g(ω) is the distribution of natural frequencies.</a:t>
            </a:r>
            <a:endParaRPr lang="en-US" sz="1800" dirty="0"/>
          </a:p>
        </p:txBody>
      </p:sp>
      <p:pic>
        <p:nvPicPr>
          <p:cNvPr id="14" name="Image 2" descr="Equation l_int">    </p:cNvPr>
          <p:cNvPicPr>
            <a:picLocks noChangeAspect="1"/>
          </p:cNvPicPr>
          <p:nvPr/>
        </p:nvPicPr>
        <p:blipFill>
          <a:blip r:embed="rId3"/>
          <a:stretch>
            <a:fillRect/>
          </a:stretch>
        </p:blipFill>
        <p:spPr>
          <a:xfrm>
            <a:off x="6995160" y="2973832"/>
            <a:ext cx="4171721" cy="827303"/>
          </a:xfrm>
          <a:prstGeom prst="rect">
            <a:avLst/>
          </a:prstGeom>
        </p:spPr>
      </p:pic>
      <p:sp>
        <p:nvSpPr>
          <p:cNvPr id="15" name="Text 9"/>
          <p:cNvSpPr txBox="1"/>
          <p:nvPr/>
        </p:nvSpPr>
        <p:spPr>
          <a:xfrm>
            <a:off x="6995160" y="3984015"/>
            <a:ext cx="4602175" cy="1440180"/>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A solution with R &gt; 0 exists only above a critical coupling. For a Lorentzian distribution of width γ, the threshold and the solution above it are given below.</a:t>
            </a:r>
            <a:endParaRPr lang="en-US" sz="1800" dirty="0"/>
          </a:p>
        </p:txBody>
      </p:sp>
      <p:pic>
        <p:nvPicPr>
          <p:cNvPr id="16" name="Image 3" descr="Equation l_lor">    </p:cNvPr>
          <p:cNvPicPr>
            <a:picLocks noChangeAspect="1"/>
          </p:cNvPicPr>
          <p:nvPr/>
        </p:nvPicPr>
        <p:blipFill>
          <a:blip r:embed="rId4"/>
          <a:stretch>
            <a:fillRect/>
          </a:stretch>
        </p:blipFill>
        <p:spPr>
          <a:xfrm>
            <a:off x="6995160" y="5607075"/>
            <a:ext cx="3314243" cy="7468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Network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b="1" dirty="0">
                <a:solidFill>
                  <a:srgbClr val="FFFFFF"/>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Networks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8</a:t>
            </a:r>
            <a:endParaRPr lang="en-US" sz="1200" dirty="0"/>
          </a:p>
        </p:txBody>
      </p:sp>
      <p:sp>
        <p:nvSpPr>
          <p:cNvPr id="6" name="Text 3"/>
          <p:cNvSpPr txBox="1"/>
          <p:nvPr/>
        </p:nvSpPr>
        <p:spPr>
          <a:xfrm>
            <a:off x="594360" y="1508760"/>
            <a:ext cx="310896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Nodes and links</a:t>
            </a:r>
            <a:endParaRPr lang="en-US" sz="1800" dirty="0"/>
          </a:p>
        </p:txBody>
      </p:sp>
      <p:sp>
        <p:nvSpPr>
          <p:cNvPr id="7" name="Text 4"/>
          <p:cNvSpPr txBox="1"/>
          <p:nvPr/>
        </p:nvSpPr>
        <p:spPr>
          <a:xfrm>
            <a:off x="3886200" y="1508760"/>
            <a:ext cx="771113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Each oscillator sits on a node, and a link means that one node feels the pull of another.</a:t>
            </a:r>
            <a:endParaRPr lang="en-US" sz="1800" dirty="0"/>
          </a:p>
        </p:txBody>
      </p:sp>
      <p:sp>
        <p:nvSpPr>
          <p:cNvPr id="8" name="Text 5"/>
          <p:cNvSpPr txBox="1"/>
          <p:nvPr/>
        </p:nvSpPr>
        <p:spPr>
          <a:xfrm>
            <a:off x="594360" y="2249424"/>
            <a:ext cx="310896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Degree k</a:t>
            </a:r>
            <a:endParaRPr lang="en-US" sz="1800" dirty="0"/>
          </a:p>
        </p:txBody>
      </p:sp>
      <p:sp>
        <p:nvSpPr>
          <p:cNvPr id="9" name="Text 6"/>
          <p:cNvSpPr txBox="1"/>
          <p:nvPr/>
        </p:nvSpPr>
        <p:spPr>
          <a:xfrm>
            <a:off x="3886200" y="2249424"/>
            <a:ext cx="771113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degree of a node is its number of links, which is the number of neighbours it listens to.</a:t>
            </a:r>
            <a:endParaRPr lang="en-US" sz="1800" dirty="0"/>
          </a:p>
        </p:txBody>
      </p:sp>
      <p:sp>
        <p:nvSpPr>
          <p:cNvPr id="10" name="Text 7"/>
          <p:cNvSpPr txBox="1"/>
          <p:nvPr/>
        </p:nvSpPr>
        <p:spPr>
          <a:xfrm>
            <a:off x="594360" y="2990088"/>
            <a:ext cx="310896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Random networks</a:t>
            </a:r>
            <a:endParaRPr lang="en-US" sz="1800" dirty="0"/>
          </a:p>
        </p:txBody>
      </p:sp>
      <p:sp>
        <p:nvSpPr>
          <p:cNvPr id="11" name="Text 8"/>
          <p:cNvSpPr txBox="1"/>
          <p:nvPr/>
        </p:nvSpPr>
        <p:spPr>
          <a:xfrm>
            <a:off x="3886200" y="2990088"/>
            <a:ext cx="771113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In a random (Erdős-Rényi) network, links are placed at random and most nodes have a similar degree.</a:t>
            </a:r>
            <a:endParaRPr lang="en-US" sz="1800" dirty="0"/>
          </a:p>
        </p:txBody>
      </p:sp>
      <p:sp>
        <p:nvSpPr>
          <p:cNvPr id="12" name="Text 9"/>
          <p:cNvSpPr txBox="1"/>
          <p:nvPr/>
        </p:nvSpPr>
        <p:spPr>
          <a:xfrm>
            <a:off x="594360" y="3730752"/>
            <a:ext cx="310896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Scale-free networks</a:t>
            </a:r>
            <a:endParaRPr lang="en-US" sz="1800" dirty="0"/>
          </a:p>
        </p:txBody>
      </p:sp>
      <p:sp>
        <p:nvSpPr>
          <p:cNvPr id="13" name="Text 10"/>
          <p:cNvSpPr txBox="1"/>
          <p:nvPr/>
        </p:nvSpPr>
        <p:spPr>
          <a:xfrm>
            <a:off x="3886200" y="3730752"/>
            <a:ext cx="771113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In a scale-free (Barabási-Albert) network, a few hubs have very many links and most nodes have only a few.</a:t>
            </a:r>
            <a:endParaRPr lang="en-US" sz="1800" dirty="0"/>
          </a:p>
        </p:txBody>
      </p:sp>
      <p:sp>
        <p:nvSpPr>
          <p:cNvPr id="14" name="Text 11"/>
          <p:cNvSpPr txBox="1"/>
          <p:nvPr/>
        </p:nvSpPr>
        <p:spPr>
          <a:xfrm>
            <a:off x="594360" y="4471416"/>
            <a:ext cx="310896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Random regular networks</a:t>
            </a:r>
            <a:endParaRPr lang="en-US" sz="1800" dirty="0"/>
          </a:p>
        </p:txBody>
      </p:sp>
      <p:sp>
        <p:nvSpPr>
          <p:cNvPr id="15" name="Text 12"/>
          <p:cNvSpPr txBox="1"/>
          <p:nvPr/>
        </p:nvSpPr>
        <p:spPr>
          <a:xfrm>
            <a:off x="3886200" y="4471416"/>
            <a:ext cx="771113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In a random regular network, every node has exactly k neighbours chosen at random.</a:t>
            </a:r>
            <a:endParaRPr lang="en-US" sz="1800" dirty="0"/>
          </a:p>
        </p:txBody>
      </p:sp>
      <p:sp>
        <p:nvSpPr>
          <p:cNvPr id="16" name="Text 13"/>
          <p:cNvSpPr txBox="1"/>
          <p:nvPr/>
        </p:nvSpPr>
        <p:spPr>
          <a:xfrm>
            <a:off x="594360" y="5212080"/>
            <a:ext cx="310896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One-way and two-way links</a:t>
            </a:r>
            <a:endParaRPr lang="en-US" sz="1800" dirty="0"/>
          </a:p>
        </p:txBody>
      </p:sp>
      <p:sp>
        <p:nvSpPr>
          <p:cNvPr id="17" name="Text 14"/>
          <p:cNvSpPr txBox="1"/>
          <p:nvPr/>
        </p:nvSpPr>
        <p:spPr>
          <a:xfrm>
            <a:off x="3886200" y="5212080"/>
            <a:ext cx="771113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A link can be two-way, where both nodes listen to each other, or one-way, where only one of them listens.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Financial networks as networks of oscillator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b="1" dirty="0">
                <a:solidFill>
                  <a:srgbClr val="FFFFFF"/>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Financial networks as networks of oscillators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9</a:t>
            </a:r>
            <a:endParaRPr lang="en-US" sz="1200" dirty="0"/>
          </a:p>
        </p:txBody>
      </p:sp>
      <p:sp>
        <p:nvSpPr>
          <p:cNvPr id="6" name="Text 3"/>
          <p:cNvSpPr txBox="1"/>
          <p:nvPr/>
        </p:nvSpPr>
        <p:spPr>
          <a:xfrm>
            <a:off x="594360" y="1508760"/>
            <a:ext cx="3291840" cy="262636"/>
          </a:xfrm>
          <a:prstGeom prst="rect">
            <a:avLst/>
          </a:prstGeom>
          <a:noFill/>
          <a:ln/>
        </p:spPr>
        <p:txBody>
          <a:bodyPr wrap="square" lIns="0" tIns="0" rIns="0" bIns="0" rtlCol="0" anchor="t"/>
          <a:lstStyle/>
          <a:p>
            <a:pPr indent="0" marL="0">
              <a:lnSpc>
                <a:spcPct val="105000"/>
              </a:lnSpc>
              <a:buNone/>
            </a:pPr>
            <a:r>
              <a:rPr lang="en-US" sz="1400" b="1" spc="200" kern="0" dirty="0">
                <a:solidFill>
                  <a:srgbClr val="BFBFBF"/>
                </a:solidFill>
                <a:latin typeface="Calibri" pitchFamily="34" charset="0"/>
                <a:ea typeface="Calibri" pitchFamily="34" charset="-122"/>
                <a:cs typeface="Calibri" pitchFamily="34" charset="-120"/>
              </a:rPr>
              <a:t>IN THE MODEL</a:t>
            </a:r>
            <a:endParaRPr lang="en-US" sz="1400" dirty="0"/>
          </a:p>
        </p:txBody>
      </p:sp>
      <p:sp>
        <p:nvSpPr>
          <p:cNvPr id="7" name="Text 4"/>
          <p:cNvSpPr txBox="1"/>
          <p:nvPr/>
        </p:nvSpPr>
        <p:spPr>
          <a:xfrm>
            <a:off x="3886200" y="1508760"/>
            <a:ext cx="5486400" cy="262636"/>
          </a:xfrm>
          <a:prstGeom prst="rect">
            <a:avLst/>
          </a:prstGeom>
          <a:noFill/>
          <a:ln/>
        </p:spPr>
        <p:txBody>
          <a:bodyPr wrap="square" lIns="0" tIns="0" rIns="0" bIns="0" rtlCol="0" anchor="t"/>
          <a:lstStyle/>
          <a:p>
            <a:pPr indent="0" marL="0">
              <a:lnSpc>
                <a:spcPct val="105000"/>
              </a:lnSpc>
              <a:buNone/>
            </a:pPr>
            <a:r>
              <a:rPr lang="en-US" sz="1400" b="1" spc="200" kern="0" dirty="0">
                <a:solidFill>
                  <a:srgbClr val="BFBFBF"/>
                </a:solidFill>
                <a:latin typeface="Calibri" pitchFamily="34" charset="0"/>
                <a:ea typeface="Calibri" pitchFamily="34" charset="-122"/>
                <a:cs typeface="Calibri" pitchFamily="34" charset="-120"/>
              </a:rPr>
              <a:t>IN A FINANCIAL NETWORK</a:t>
            </a:r>
            <a:endParaRPr lang="en-US" sz="1400" dirty="0"/>
          </a:p>
        </p:txBody>
      </p:sp>
      <p:sp>
        <p:nvSpPr>
          <p:cNvPr id="8" name="Text 5"/>
          <p:cNvSpPr txBox="1"/>
          <p:nvPr/>
        </p:nvSpPr>
        <p:spPr>
          <a:xfrm>
            <a:off x="594360" y="1856232"/>
            <a:ext cx="310896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Oscillator</a:t>
            </a:r>
            <a:endParaRPr lang="en-US" sz="1700" dirty="0"/>
          </a:p>
        </p:txBody>
      </p:sp>
      <p:sp>
        <p:nvSpPr>
          <p:cNvPr id="9" name="Text 6"/>
          <p:cNvSpPr txBox="1"/>
          <p:nvPr/>
        </p:nvSpPr>
        <p:spPr>
          <a:xfrm>
            <a:off x="3886200" y="1856232"/>
            <a:ext cx="7711135" cy="309118"/>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Each oscillator is a trader or a trading desk.</a:t>
            </a:r>
            <a:endParaRPr lang="en-US" sz="1700" dirty="0"/>
          </a:p>
        </p:txBody>
      </p:sp>
      <p:sp>
        <p:nvSpPr>
          <p:cNvPr id="10" name="Text 7"/>
          <p:cNvSpPr txBox="1"/>
          <p:nvPr/>
        </p:nvSpPr>
        <p:spPr>
          <a:xfrm>
            <a:off x="594360" y="2183638"/>
            <a:ext cx="310896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Phase θ</a:t>
            </a:r>
            <a:endParaRPr lang="en-US" sz="1700" dirty="0"/>
          </a:p>
        </p:txBody>
      </p:sp>
      <p:sp>
        <p:nvSpPr>
          <p:cNvPr id="11" name="Text 8"/>
          <p:cNvSpPr txBox="1"/>
          <p:nvPr/>
        </p:nvSpPr>
        <p:spPr>
          <a:xfrm>
            <a:off x="3886200" y="2183638"/>
            <a:ext cx="7711135" cy="835914"/>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The phase is the trader’s position in a cycle of buying and selling. The net order is sin θ, which is positive when the trader buys and negative when it sells.</a:t>
            </a:r>
            <a:endParaRPr lang="en-US" sz="1700" dirty="0"/>
          </a:p>
        </p:txBody>
      </p:sp>
      <p:sp>
        <p:nvSpPr>
          <p:cNvPr id="12" name="Text 9"/>
          <p:cNvSpPr txBox="1"/>
          <p:nvPr/>
        </p:nvSpPr>
        <p:spPr>
          <a:xfrm>
            <a:off x="594360" y="3037840"/>
            <a:ext cx="310896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Natural frequency ω</a:t>
            </a:r>
            <a:endParaRPr lang="en-US" sz="1700" dirty="0"/>
          </a:p>
        </p:txBody>
      </p:sp>
      <p:sp>
        <p:nvSpPr>
          <p:cNvPr id="13" name="Text 10"/>
          <p:cNvSpPr txBox="1"/>
          <p:nvPr/>
        </p:nvSpPr>
        <p:spPr>
          <a:xfrm>
            <a:off x="3886200" y="3037840"/>
            <a:ext cx="771113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The natural frequency stands for the trader’s own strategy and trading speed.</a:t>
            </a:r>
            <a:endParaRPr lang="en-US" sz="1700" dirty="0"/>
          </a:p>
        </p:txBody>
      </p:sp>
      <p:sp>
        <p:nvSpPr>
          <p:cNvPr id="14" name="Text 11"/>
          <p:cNvSpPr txBox="1"/>
          <p:nvPr/>
        </p:nvSpPr>
        <p:spPr>
          <a:xfrm>
            <a:off x="594360" y="3628644"/>
            <a:ext cx="310896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Coupling</a:t>
            </a:r>
            <a:endParaRPr lang="en-US" sz="1700" dirty="0"/>
          </a:p>
        </p:txBody>
      </p:sp>
      <p:sp>
        <p:nvSpPr>
          <p:cNvPr id="15" name="Text 12"/>
          <p:cNvSpPr txBox="1"/>
          <p:nvPr/>
        </p:nvSpPr>
        <p:spPr>
          <a:xfrm>
            <a:off x="3886200" y="3628644"/>
            <a:ext cx="7711135" cy="309118"/>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The coupling measures how strongly traders copy one another.</a:t>
            </a:r>
            <a:endParaRPr lang="en-US" sz="1700" dirty="0"/>
          </a:p>
        </p:txBody>
      </p:sp>
      <p:sp>
        <p:nvSpPr>
          <p:cNvPr id="16" name="Text 13"/>
          <p:cNvSpPr txBox="1"/>
          <p:nvPr/>
        </p:nvSpPr>
        <p:spPr>
          <a:xfrm>
            <a:off x="594360" y="3956050"/>
            <a:ext cx="310896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Network links</a:t>
            </a:r>
            <a:endParaRPr lang="en-US" sz="1700" dirty="0"/>
          </a:p>
        </p:txBody>
      </p:sp>
      <p:sp>
        <p:nvSpPr>
          <p:cNvPr id="17" name="Text 14"/>
          <p:cNvSpPr txBox="1"/>
          <p:nvPr/>
        </p:nvSpPr>
        <p:spPr>
          <a:xfrm>
            <a:off x="3886200" y="3956050"/>
            <a:ext cx="771113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The links describe who watches whom. A small trader may follow a large fund that does not follow back, which is a one-way link.</a:t>
            </a:r>
            <a:endParaRPr lang="en-US" sz="1700" dirty="0"/>
          </a:p>
        </p:txBody>
      </p:sp>
      <p:sp>
        <p:nvSpPr>
          <p:cNvPr id="18" name="Text 15"/>
          <p:cNvSpPr txBox="1"/>
          <p:nvPr/>
        </p:nvSpPr>
        <p:spPr>
          <a:xfrm>
            <a:off x="594360" y="4546854"/>
            <a:ext cx="310896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Order parameter R</a:t>
            </a:r>
            <a:endParaRPr lang="en-US" sz="1700" dirty="0"/>
          </a:p>
        </p:txBody>
      </p:sp>
      <p:sp>
        <p:nvSpPr>
          <p:cNvPr id="19" name="Text 16"/>
          <p:cNvSpPr txBox="1"/>
          <p:nvPr/>
        </p:nvSpPr>
        <p:spPr>
          <a:xfrm>
            <a:off x="3886200" y="4546854"/>
            <a:ext cx="771113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R measures market consensus. Near 0 the buy and sell orders balance, and near 1 most traders act together.</a:t>
            </a:r>
            <a:endParaRPr lang="en-US" sz="1700" dirty="0"/>
          </a:p>
        </p:txBody>
      </p:sp>
      <p:sp>
        <p:nvSpPr>
          <p:cNvPr id="20" name="Text 17"/>
          <p:cNvSpPr txBox="1"/>
          <p:nvPr/>
        </p:nvSpPr>
        <p:spPr>
          <a:xfrm>
            <a:off x="594360" y="5137658"/>
            <a:ext cx="310896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Adaptive coupling</a:t>
            </a:r>
            <a:endParaRPr lang="en-US" sz="1700" dirty="0"/>
          </a:p>
        </p:txBody>
      </p:sp>
      <p:sp>
        <p:nvSpPr>
          <p:cNvPr id="21" name="Text 18"/>
          <p:cNvSpPr txBox="1"/>
          <p:nvPr/>
        </p:nvSpPr>
        <p:spPr>
          <a:xfrm>
            <a:off x="3886200" y="5137658"/>
            <a:ext cx="7711135" cy="835914"/>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Adaptive coupling describes herding, in which a trader copies more when the traders it watches already agree. It is introduced in the literature review.</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ynchronization in financial research">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b="1" dirty="0">
                <a:solidFill>
                  <a:srgbClr val="FFFFFF"/>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Synchronization in financial research</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10</a:t>
            </a:r>
            <a:endParaRPr lang="en-US" sz="1200" dirty="0"/>
          </a:p>
        </p:txBody>
      </p:sp>
      <p:sp>
        <p:nvSpPr>
          <p:cNvPr id="6" name="Shape 3"/>
          <p:cNvSpPr/>
          <p:nvPr/>
        </p:nvSpPr>
        <p:spPr>
          <a:xfrm>
            <a:off x="594360" y="1508760"/>
            <a:ext cx="11002975" cy="0"/>
          </a:xfrm>
          <a:prstGeom prst="line">
            <a:avLst/>
          </a:prstGeom>
          <a:noFill/>
          <a:ln w="12700">
            <a:solidFill>
              <a:srgbClr val="4D4D4D"/>
            </a:solidFill>
            <a:prstDash val="solid"/>
          </a:ln>
        </p:spPr>
      </p:sp>
      <p:sp>
        <p:nvSpPr>
          <p:cNvPr id="7" name="Text 4"/>
          <p:cNvSpPr txBox="1"/>
          <p:nvPr/>
        </p:nvSpPr>
        <p:spPr>
          <a:xfrm>
            <a:off x="594360" y="1618488"/>
            <a:ext cx="3383280" cy="355600"/>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Calibri" pitchFamily="34" charset="0"/>
                <a:ea typeface="Calibri" pitchFamily="34" charset="-122"/>
                <a:cs typeface="Calibri" pitchFamily="34" charset="-120"/>
              </a:rPr>
              <a:t>Markets as networks</a:t>
            </a:r>
            <a:endParaRPr lang="en-US" sz="2000" dirty="0"/>
          </a:p>
        </p:txBody>
      </p:sp>
      <p:sp>
        <p:nvSpPr>
          <p:cNvPr id="8" name="Text 5"/>
          <p:cNvSpPr txBox="1"/>
          <p:nvPr/>
        </p:nvSpPr>
        <p:spPr>
          <a:xfrm>
            <a:off x="594360" y="2010664"/>
            <a:ext cx="3383280" cy="510540"/>
          </a:xfrm>
          <a:prstGeom prst="rect">
            <a:avLst/>
          </a:prstGeom>
          <a:noFill/>
          <a:ln/>
        </p:spPr>
        <p:txBody>
          <a:bodyPr wrap="square" lIns="0" tIns="0" rIns="0" bIns="0" rtlCol="0" anchor="t"/>
          <a:lstStyle/>
          <a:p>
            <a:pPr indent="0" marL="0">
              <a:lnSpc>
                <a:spcPct val="105000"/>
              </a:lnSpc>
              <a:buNone/>
            </a:pPr>
            <a:r>
              <a:rPr lang="en-US" sz="1500" dirty="0">
                <a:solidFill>
                  <a:srgbClr val="BFBFBF"/>
                </a:solidFill>
                <a:latin typeface="Calibri" pitchFamily="34" charset="0"/>
                <a:ea typeface="Calibri" pitchFamily="34" charset="-122"/>
                <a:cs typeface="Calibri" pitchFamily="34" charset="-120"/>
              </a:rPr>
              <a:t>Mantegna, Eur. Phys. J. B 11, 193 (1999)</a:t>
            </a:r>
            <a:endParaRPr lang="en-US" sz="1500" dirty="0"/>
          </a:p>
        </p:txBody>
      </p:sp>
      <p:sp>
        <p:nvSpPr>
          <p:cNvPr id="9" name="Text 6"/>
          <p:cNvSpPr txBox="1"/>
          <p:nvPr/>
        </p:nvSpPr>
        <p:spPr>
          <a:xfrm>
            <a:off x="4251960" y="1618488"/>
            <a:ext cx="7345375" cy="1161288"/>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Mantegna used the correlations between stock returns to build a network of stocks, a minimum spanning tree that reveals the hierarchical structure of the market. Describing a market as a network is now a standard tool.</a:t>
            </a:r>
            <a:endParaRPr lang="en-US" sz="1800" dirty="0"/>
          </a:p>
        </p:txBody>
      </p:sp>
      <p:sp>
        <p:nvSpPr>
          <p:cNvPr id="10" name="Shape 7"/>
          <p:cNvSpPr/>
          <p:nvPr/>
        </p:nvSpPr>
        <p:spPr>
          <a:xfrm>
            <a:off x="594360" y="3008376"/>
            <a:ext cx="11002975" cy="0"/>
          </a:xfrm>
          <a:prstGeom prst="line">
            <a:avLst/>
          </a:prstGeom>
          <a:noFill/>
          <a:ln w="12700">
            <a:solidFill>
              <a:srgbClr val="4D4D4D"/>
            </a:solidFill>
            <a:prstDash val="solid"/>
          </a:ln>
        </p:spPr>
      </p:sp>
      <p:sp>
        <p:nvSpPr>
          <p:cNvPr id="11" name="Text 8"/>
          <p:cNvSpPr txBox="1"/>
          <p:nvPr/>
        </p:nvSpPr>
        <p:spPr>
          <a:xfrm>
            <a:off x="594360" y="3118104"/>
            <a:ext cx="3383280" cy="355600"/>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Calibri" pitchFamily="34" charset="0"/>
                <a:ea typeface="Calibri" pitchFamily="34" charset="-122"/>
                <a:cs typeface="Calibri" pitchFamily="34" charset="-120"/>
              </a:rPr>
              <a:t>Herding</a:t>
            </a:r>
            <a:endParaRPr lang="en-US" sz="2000" dirty="0"/>
          </a:p>
        </p:txBody>
      </p:sp>
      <p:sp>
        <p:nvSpPr>
          <p:cNvPr id="12" name="Text 9"/>
          <p:cNvSpPr txBox="1"/>
          <p:nvPr/>
        </p:nvSpPr>
        <p:spPr>
          <a:xfrm>
            <a:off x="594360" y="3510280"/>
            <a:ext cx="3383280" cy="510540"/>
          </a:xfrm>
          <a:prstGeom prst="rect">
            <a:avLst/>
          </a:prstGeom>
          <a:noFill/>
          <a:ln/>
        </p:spPr>
        <p:txBody>
          <a:bodyPr wrap="square" lIns="0" tIns="0" rIns="0" bIns="0" rtlCol="0" anchor="t"/>
          <a:lstStyle/>
          <a:p>
            <a:pPr indent="0" marL="0">
              <a:lnSpc>
                <a:spcPct val="105000"/>
              </a:lnSpc>
              <a:buNone/>
            </a:pPr>
            <a:r>
              <a:rPr lang="en-US" sz="1500" dirty="0">
                <a:solidFill>
                  <a:srgbClr val="BFBFBF"/>
                </a:solidFill>
                <a:latin typeface="Calibri" pitchFamily="34" charset="0"/>
                <a:ea typeface="Calibri" pitchFamily="34" charset="-122"/>
                <a:cs typeface="Calibri" pitchFamily="34" charset="-120"/>
              </a:rPr>
              <a:t>Cont and Bouchaud, Macroecon. Dyn. 4, 170 (2000)</a:t>
            </a:r>
            <a:endParaRPr lang="en-US" sz="1500" dirty="0"/>
          </a:p>
        </p:txBody>
      </p:sp>
      <p:sp>
        <p:nvSpPr>
          <p:cNvPr id="13" name="Text 10"/>
          <p:cNvSpPr txBox="1"/>
          <p:nvPr/>
        </p:nvSpPr>
        <p:spPr>
          <a:xfrm>
            <a:off x="4251960" y="3118104"/>
            <a:ext cx="734537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Cont and Bouchaud showed that herding, in which traders form groups that act together, can produce the large price fluctuations seen in real markets.</a:t>
            </a:r>
            <a:endParaRPr lang="en-US" sz="1800" dirty="0"/>
          </a:p>
        </p:txBody>
      </p:sp>
      <p:sp>
        <p:nvSpPr>
          <p:cNvPr id="14" name="Shape 11"/>
          <p:cNvSpPr/>
          <p:nvPr/>
        </p:nvSpPr>
        <p:spPr>
          <a:xfrm>
            <a:off x="594360" y="4249420"/>
            <a:ext cx="11002975" cy="0"/>
          </a:xfrm>
          <a:prstGeom prst="line">
            <a:avLst/>
          </a:prstGeom>
          <a:noFill/>
          <a:ln w="12700">
            <a:solidFill>
              <a:srgbClr val="4D4D4D"/>
            </a:solidFill>
            <a:prstDash val="solid"/>
          </a:ln>
        </p:spPr>
      </p:sp>
      <p:sp>
        <p:nvSpPr>
          <p:cNvPr id="15" name="Text 12"/>
          <p:cNvSpPr txBox="1"/>
          <p:nvPr/>
        </p:nvSpPr>
        <p:spPr>
          <a:xfrm>
            <a:off x="594360" y="4359148"/>
            <a:ext cx="3383280" cy="665480"/>
          </a:xfrm>
          <a:prstGeom prst="rect">
            <a:avLst/>
          </a:prstGeom>
          <a:noFill/>
          <a:ln/>
        </p:spPr>
        <p:txBody>
          <a:bodyPr wrap="square" lIns="0" tIns="0" rIns="0" bIns="0" rtlCol="0" anchor="t"/>
          <a:lstStyle/>
          <a:p>
            <a:pPr indent="0" marL="0">
              <a:lnSpc>
                <a:spcPct val="105000"/>
              </a:lnSpc>
              <a:buNone/>
            </a:pPr>
            <a:r>
              <a:rPr lang="en-US" sz="2000" b="1" dirty="0">
                <a:solidFill>
                  <a:srgbClr val="FFFFFF"/>
                </a:solidFill>
                <a:latin typeface="Calibri" pitchFamily="34" charset="0"/>
                <a:ea typeface="Calibri" pitchFamily="34" charset="-122"/>
                <a:cs typeface="Calibri" pitchFamily="34" charset="-120"/>
              </a:rPr>
              <a:t>Explosive synchronization in markets</a:t>
            </a:r>
            <a:endParaRPr lang="en-US" sz="2000" dirty="0"/>
          </a:p>
        </p:txBody>
      </p:sp>
      <p:sp>
        <p:nvSpPr>
          <p:cNvPr id="16" name="Text 13"/>
          <p:cNvSpPr txBox="1"/>
          <p:nvPr/>
        </p:nvSpPr>
        <p:spPr>
          <a:xfrm>
            <a:off x="594360" y="5061204"/>
            <a:ext cx="3383280" cy="278130"/>
          </a:xfrm>
          <a:prstGeom prst="rect">
            <a:avLst/>
          </a:prstGeom>
          <a:noFill/>
          <a:ln/>
        </p:spPr>
        <p:txBody>
          <a:bodyPr wrap="square" lIns="0" tIns="0" rIns="0" bIns="0" rtlCol="0" anchor="t"/>
          <a:lstStyle/>
          <a:p>
            <a:pPr indent="0" marL="0">
              <a:lnSpc>
                <a:spcPct val="105000"/>
              </a:lnSpc>
              <a:buNone/>
            </a:pPr>
            <a:r>
              <a:rPr lang="en-US" sz="1500" dirty="0">
                <a:solidFill>
                  <a:srgbClr val="BFBFBF"/>
                </a:solidFill>
                <a:latin typeface="Calibri" pitchFamily="34" charset="0"/>
                <a:ea typeface="Calibri" pitchFamily="34" charset="-122"/>
                <a:cs typeface="Calibri" pitchFamily="34" charset="-120"/>
              </a:rPr>
              <a:t>Lee et al., PNAS (2025)</a:t>
            </a:r>
            <a:endParaRPr lang="en-US" sz="1500" dirty="0"/>
          </a:p>
        </p:txBody>
      </p:sp>
      <p:sp>
        <p:nvSpPr>
          <p:cNvPr id="17" name="Text 14"/>
          <p:cNvSpPr txBox="1"/>
          <p:nvPr/>
        </p:nvSpPr>
        <p:spPr>
          <a:xfrm>
            <a:off x="4251960" y="4359148"/>
            <a:ext cx="7345375" cy="1161288"/>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Lee and co-workers measured how close 39 stock markets were to explosive synchronization before the 2008 financial crisis, and found that this proximity was associated with how quickly the markets collapsed and recovered.</a:t>
            </a:r>
            <a:endParaRPr lang="en-US" sz="1800" dirty="0"/>
          </a:p>
        </p:txBody>
      </p:sp>
      <p:sp>
        <p:nvSpPr>
          <p:cNvPr id="18" name="Text 15"/>
          <p:cNvSpPr txBox="1"/>
          <p:nvPr/>
        </p:nvSpPr>
        <p:spPr>
          <a:xfrm>
            <a:off x="594360" y="5794756"/>
            <a:ext cx="11002975" cy="603504"/>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These works describe markets as networks of coupled units that can switch suddenly. The Kuramoto model with adaptive coupling is a simple, exactly solvable version of this picture.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ynchronization in a simulation">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b="1" dirty="0">
                <a:solidFill>
                  <a:srgbClr val="FFFFFF"/>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Synchronization in a simulation</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11</a:t>
            </a:r>
            <a:endParaRPr lang="en-US" sz="1200" dirty="0"/>
          </a:p>
        </p:txBody>
      </p:sp>
      <p:pic>
        <p:nvPicPr>
          <p:cNvPr id="6" name="Image 0" descr="Order parameter against time rising from about 0.1 to about 0.7">    </p:cNvPr>
          <p:cNvPicPr>
            <a:picLocks noChangeAspect="1"/>
          </p:cNvPicPr>
          <p:nvPr/>
        </p:nvPicPr>
        <p:blipFill>
          <a:blip r:embed="rId1"/>
          <a:stretch>
            <a:fillRect/>
          </a:stretch>
        </p:blipFill>
        <p:spPr>
          <a:xfrm>
            <a:off x="594360" y="1600200"/>
            <a:ext cx="6949440" cy="3971109"/>
          </a:xfrm>
          <a:prstGeom prst="rect">
            <a:avLst/>
          </a:prstGeom>
        </p:spPr>
      </p:pic>
      <p:sp>
        <p:nvSpPr>
          <p:cNvPr id="7" name="Text 3"/>
          <p:cNvSpPr txBox="1"/>
          <p:nvPr/>
        </p:nvSpPr>
        <p:spPr>
          <a:xfrm>
            <a:off x="8001000" y="1600200"/>
            <a:ext cx="359633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oscillators start with random phases, so R is close to 0.1.</a:t>
            </a:r>
            <a:endParaRPr lang="en-US" sz="1800" dirty="0"/>
          </a:p>
        </p:txBody>
      </p:sp>
      <p:sp>
        <p:nvSpPr>
          <p:cNvPr id="8" name="Text 4"/>
          <p:cNvSpPr txBox="1"/>
          <p:nvPr/>
        </p:nvSpPr>
        <p:spPr>
          <a:xfrm>
            <a:off x="8001000" y="2500884"/>
            <a:ext cx="359633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Each oscillator is pulled towards the others, and groups of locked oscillators form.</a:t>
            </a:r>
            <a:endParaRPr lang="en-US" sz="1800" dirty="0"/>
          </a:p>
        </p:txBody>
      </p:sp>
      <p:sp>
        <p:nvSpPr>
          <p:cNvPr id="9" name="Text 5"/>
          <p:cNvSpPr txBox="1"/>
          <p:nvPr/>
        </p:nvSpPr>
        <p:spPr>
          <a:xfrm>
            <a:off x="8001000" y="3401568"/>
            <a:ext cx="359633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After some time most oscillators are locked and R settles near 0.7.</a:t>
            </a:r>
            <a:endParaRPr lang="en-US" sz="1800" dirty="0"/>
          </a:p>
        </p:txBody>
      </p:sp>
      <p:sp>
        <p:nvSpPr>
          <p:cNvPr id="10" name="Text 6"/>
          <p:cNvSpPr txBox="1"/>
          <p:nvPr/>
        </p:nvSpPr>
        <p:spPr>
          <a:xfrm>
            <a:off x="8001000" y="4302252"/>
            <a:ext cx="359633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fastest oscillators never lock, which is why R keeps fluctuating.</a:t>
            </a:r>
            <a:endParaRPr lang="en-US" sz="1800" dirty="0"/>
          </a:p>
        </p:txBody>
      </p:sp>
      <p:sp>
        <p:nvSpPr>
          <p:cNvPr id="11" name="Text 7"/>
          <p:cNvSpPr txBox="1"/>
          <p:nvPr/>
        </p:nvSpPr>
        <p:spPr>
          <a:xfrm>
            <a:off x="8001000" y="5202936"/>
            <a:ext cx="359633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In the Kuramoto model, R grows gradually as the coupling is increased.</a:t>
            </a:r>
            <a:endParaRPr lang="en-US" sz="1800" dirty="0"/>
          </a:p>
        </p:txBody>
      </p:sp>
      <p:sp>
        <p:nvSpPr>
          <p:cNvPr id="12" name="Text 8"/>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legacy/figures/order_param.png, a Kuramoto run from the earlier code in legacy/.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Adaptive coupling (Zhang et al., 201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b="1" dirty="0">
                <a:solidFill>
                  <a:srgbClr val="FFFFFF"/>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Adaptive coupling (Zhang et al., 2015)</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12</a:t>
            </a:r>
            <a:endParaRPr lang="en-US" sz="1200" dirty="0"/>
          </a:p>
        </p:txBody>
      </p:sp>
      <p:pic>
        <p:nvPicPr>
          <p:cNvPr id="6" name="Image 0" descr="Equation a_eq">    </p:cNvPr>
          <p:cNvPicPr>
            <a:picLocks noChangeAspect="1"/>
          </p:cNvPicPr>
          <p:nvPr/>
        </p:nvPicPr>
        <p:blipFill>
          <a:blip r:embed="rId1"/>
          <a:stretch>
            <a:fillRect/>
          </a:stretch>
        </p:blipFill>
        <p:spPr>
          <a:xfrm>
            <a:off x="594360" y="1508760"/>
            <a:ext cx="5143043" cy="1049731"/>
          </a:xfrm>
          <a:prstGeom prst="rect">
            <a:avLst/>
          </a:prstGeom>
        </p:spPr>
      </p:pic>
      <p:pic>
        <p:nvPicPr>
          <p:cNvPr id="7" name="Image 1" descr="Equation a_lam">    </p:cNvPr>
          <p:cNvPicPr>
            <a:picLocks noChangeAspect="1"/>
          </p:cNvPicPr>
          <p:nvPr/>
        </p:nvPicPr>
        <p:blipFill>
          <a:blip r:embed="rId2"/>
          <a:stretch>
            <a:fillRect/>
          </a:stretch>
        </p:blipFill>
        <p:spPr>
          <a:xfrm>
            <a:off x="594360" y="2832811"/>
            <a:ext cx="260604" cy="356616"/>
          </a:xfrm>
          <a:prstGeom prst="rect">
            <a:avLst/>
          </a:prstGeom>
        </p:spPr>
      </p:pic>
      <p:sp>
        <p:nvSpPr>
          <p:cNvPr id="8" name="Text 3"/>
          <p:cNvSpPr txBox="1"/>
          <p:nvPr/>
        </p:nvSpPr>
        <p:spPr>
          <a:xfrm>
            <a:off x="1508760" y="2871673"/>
            <a:ext cx="4358488"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coupling strength.</a:t>
            </a:r>
            <a:endParaRPr lang="en-US" sz="1800" dirty="0"/>
          </a:p>
        </p:txBody>
      </p:sp>
      <p:pic>
        <p:nvPicPr>
          <p:cNvPr id="9" name="Image 2" descr="Equation a_k">    </p:cNvPr>
          <p:cNvPicPr>
            <a:picLocks noChangeAspect="1"/>
          </p:cNvPicPr>
          <p:nvPr/>
        </p:nvPicPr>
        <p:blipFill>
          <a:blip r:embed="rId3"/>
          <a:stretch>
            <a:fillRect/>
          </a:stretch>
        </p:blipFill>
        <p:spPr>
          <a:xfrm>
            <a:off x="594360" y="3557473"/>
            <a:ext cx="241402" cy="356616"/>
          </a:xfrm>
          <a:prstGeom prst="rect">
            <a:avLst/>
          </a:prstGeom>
        </p:spPr>
      </p:pic>
      <p:sp>
        <p:nvSpPr>
          <p:cNvPr id="10" name="Text 4"/>
          <p:cNvSpPr txBox="1"/>
          <p:nvPr/>
        </p:nvSpPr>
        <p:spPr>
          <a:xfrm>
            <a:off x="1508760" y="3317443"/>
            <a:ext cx="435848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number of neighbours of each node, so dividing by k gives an average.</a:t>
            </a:r>
            <a:endParaRPr lang="en-US" sz="1800" dirty="0"/>
          </a:p>
        </p:txBody>
      </p:sp>
      <p:pic>
        <p:nvPicPr>
          <p:cNvPr id="11" name="Image 3" descr="Equation a_A">    </p:cNvPr>
          <p:cNvPicPr>
            <a:picLocks noChangeAspect="1"/>
          </p:cNvPicPr>
          <p:nvPr/>
        </p:nvPicPr>
        <p:blipFill>
          <a:blip r:embed="rId4"/>
          <a:stretch>
            <a:fillRect/>
          </a:stretch>
        </p:blipFill>
        <p:spPr>
          <a:xfrm>
            <a:off x="594360" y="4509821"/>
            <a:ext cx="466344" cy="381305"/>
          </a:xfrm>
          <a:prstGeom prst="rect">
            <a:avLst/>
          </a:prstGeom>
        </p:spPr>
      </p:pic>
      <p:sp>
        <p:nvSpPr>
          <p:cNvPr id="12" name="Text 5"/>
          <p:cNvSpPr txBox="1"/>
          <p:nvPr/>
        </p:nvSpPr>
        <p:spPr>
          <a:xfrm>
            <a:off x="1508760" y="4282135"/>
            <a:ext cx="435848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describes the network. It is 1 if node i listens to node j and 0 otherwise.</a:t>
            </a:r>
            <a:endParaRPr lang="en-US" sz="1800" dirty="0"/>
          </a:p>
        </p:txBody>
      </p:sp>
      <p:pic>
        <p:nvPicPr>
          <p:cNvPr id="13" name="Image 4" descr="Equation o_r">    </p:cNvPr>
          <p:cNvPicPr>
            <a:picLocks noChangeAspect="1"/>
          </p:cNvPicPr>
          <p:nvPr/>
        </p:nvPicPr>
        <p:blipFill>
          <a:blip r:embed="rId5"/>
          <a:stretch>
            <a:fillRect/>
          </a:stretch>
        </p:blipFill>
        <p:spPr>
          <a:xfrm>
            <a:off x="6324448" y="3072841"/>
            <a:ext cx="290779" cy="356616"/>
          </a:xfrm>
          <a:prstGeom prst="rect">
            <a:avLst/>
          </a:prstGeom>
        </p:spPr>
      </p:pic>
      <p:sp>
        <p:nvSpPr>
          <p:cNvPr id="14" name="Text 6"/>
          <p:cNvSpPr txBox="1"/>
          <p:nvPr/>
        </p:nvSpPr>
        <p:spPr>
          <a:xfrm>
            <a:off x="7238848" y="2832811"/>
            <a:ext cx="435848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local order parameter, which measures how much the neighbours of node i agree.</a:t>
            </a:r>
            <a:endParaRPr lang="en-US" sz="1800" dirty="0"/>
          </a:p>
        </p:txBody>
      </p:sp>
      <p:pic>
        <p:nvPicPr>
          <p:cNvPr id="15" name="Image 5" descr="Equation a_p">    </p:cNvPr>
          <p:cNvPicPr>
            <a:picLocks noChangeAspect="1"/>
          </p:cNvPicPr>
          <p:nvPr/>
        </p:nvPicPr>
        <p:blipFill>
          <a:blip r:embed="rId6"/>
          <a:stretch>
            <a:fillRect/>
          </a:stretch>
        </p:blipFill>
        <p:spPr>
          <a:xfrm>
            <a:off x="6324448" y="4037533"/>
            <a:ext cx="235915" cy="356616"/>
          </a:xfrm>
          <a:prstGeom prst="rect">
            <a:avLst/>
          </a:prstGeom>
        </p:spPr>
      </p:pic>
      <p:sp>
        <p:nvSpPr>
          <p:cNvPr id="16" name="Text 7"/>
          <p:cNvSpPr txBox="1"/>
          <p:nvPr/>
        </p:nvSpPr>
        <p:spPr>
          <a:xfrm>
            <a:off x="7238848" y="3797503"/>
            <a:ext cx="435848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feedback exponent. Setting p = 0 recovers the ordinary Kuramoto model.</a:t>
            </a:r>
            <a:endParaRPr lang="en-US" sz="1800" dirty="0"/>
          </a:p>
        </p:txBody>
      </p:sp>
      <p:pic>
        <p:nvPicPr>
          <p:cNvPr id="17" name="Image 6" descr="Equation a_rp">    </p:cNvPr>
          <p:cNvPicPr>
            <a:picLocks noChangeAspect="1"/>
          </p:cNvPicPr>
          <p:nvPr/>
        </p:nvPicPr>
        <p:blipFill>
          <a:blip r:embed="rId7"/>
          <a:stretch>
            <a:fillRect/>
          </a:stretch>
        </p:blipFill>
        <p:spPr>
          <a:xfrm>
            <a:off x="6324448" y="5116982"/>
            <a:ext cx="367589" cy="405994"/>
          </a:xfrm>
          <a:prstGeom prst="rect">
            <a:avLst/>
          </a:prstGeom>
        </p:spPr>
      </p:pic>
      <p:sp>
        <p:nvSpPr>
          <p:cNvPr id="18" name="Text 8"/>
          <p:cNvSpPr txBox="1"/>
          <p:nvPr/>
        </p:nvSpPr>
        <p:spPr>
          <a:xfrm>
            <a:off x="7238848" y="4762195"/>
            <a:ext cx="4358488" cy="1161288"/>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the adaptive gain. A node listens weakly when its neighbours disagree and strongly when they agree, which is a simple model of herding.</a:t>
            </a:r>
            <a:endParaRPr lang="en-US" sz="1800" dirty="0"/>
          </a:p>
        </p:txBody>
      </p:sp>
      <p:sp>
        <p:nvSpPr>
          <p:cNvPr id="19" name="Text 9"/>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Zhang, Boccaletti, Guan and Liu, Phys. Rev. Lett. 114, 038701 (2015)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Without herding: a smooth rise">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b="1" dirty="0">
                <a:solidFill>
                  <a:srgbClr val="FFFFFF"/>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Without herding: a smooth rise</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13</a:t>
            </a:r>
            <a:endParaRPr lang="en-US" sz="1200" dirty="0"/>
          </a:p>
        </p:txBody>
      </p:sp>
      <p:pic>
        <p:nvPicPr>
          <p:cNvPr id="6" name="Image 0" descr="Without herding: a smooth rise">    </p:cNvPr>
          <p:cNvPicPr>
            <a:picLocks noChangeAspect="1"/>
          </p:cNvPicPr>
          <p:nvPr/>
        </p:nvPicPr>
        <p:blipFill>
          <a:blip r:embed="rId1"/>
          <a:stretch>
            <a:fillRect/>
          </a:stretch>
        </p:blipFill>
        <p:spPr>
          <a:xfrm>
            <a:off x="594360" y="1417320"/>
            <a:ext cx="3476297" cy="4480560"/>
          </a:xfrm>
          <a:prstGeom prst="rect">
            <a:avLst/>
          </a:prstGeom>
        </p:spPr>
      </p:pic>
      <p:sp>
        <p:nvSpPr>
          <p:cNvPr id="7" name="Text 3"/>
          <p:cNvSpPr txBox="1"/>
          <p:nvPr/>
        </p:nvSpPr>
        <p:spPr>
          <a:xfrm>
            <a:off x="594360" y="5943600"/>
            <a:ext cx="3476297" cy="448564"/>
          </a:xfrm>
          <a:prstGeom prst="rect">
            <a:avLst/>
          </a:prstGeom>
          <a:noFill/>
          <a:ln/>
        </p:spPr>
        <p:txBody>
          <a:bodyPr wrap="square" lIns="0" tIns="0" rIns="0" bIns="0" rtlCol="0" anchor="t"/>
          <a:lstStyle/>
          <a:p>
            <a:pPr indent="0" marL="0">
              <a:lnSpc>
                <a:spcPct val="105000"/>
              </a:lnSpc>
              <a:buNone/>
            </a:pPr>
            <a:r>
              <a:rPr lang="en-US" sz="1300" dirty="0">
                <a:solidFill>
                  <a:srgbClr val="BFBFBF"/>
                </a:solidFill>
                <a:latin typeface="Calibri" pitchFamily="34" charset="0"/>
                <a:ea typeface="Calibri" pitchFamily="34" charset="-122"/>
                <a:cs typeface="Calibri" pitchFamily="34" charset="-120"/>
              </a:rPr>
              <a:t>Horizontal: coupling λ. Vertical: synchrony R.</a:t>
            </a:r>
            <a:endParaRPr lang="en-US" sz="1300" dirty="0"/>
          </a:p>
        </p:txBody>
      </p:sp>
      <p:sp>
        <p:nvSpPr>
          <p:cNvPr id="8" name="Text 4"/>
          <p:cNvSpPr txBox="1"/>
          <p:nvPr/>
        </p:nvSpPr>
        <p:spPr>
          <a:xfrm>
            <a:off x="4527857" y="1417320"/>
            <a:ext cx="7069479"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No trader uses adaptive coupling here, so this is the ordinary Kuramoto model on a network.</a:t>
            </a:r>
            <a:endParaRPr lang="en-US" sz="1800" dirty="0"/>
          </a:p>
        </p:txBody>
      </p:sp>
      <p:sp>
        <p:nvSpPr>
          <p:cNvPr id="9" name="Text 5"/>
          <p:cNvSpPr txBox="1"/>
          <p:nvPr/>
        </p:nvSpPr>
        <p:spPr>
          <a:xfrm>
            <a:off x="4527857" y="2157984"/>
            <a:ext cx="7069479"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Blue: the coupling is slowly increased. Orange: it is slowly decreased.</a:t>
            </a:r>
            <a:endParaRPr lang="en-US" sz="1800" dirty="0"/>
          </a:p>
        </p:txBody>
      </p:sp>
      <p:sp>
        <p:nvSpPr>
          <p:cNvPr id="10" name="Text 6"/>
          <p:cNvSpPr txBox="1"/>
          <p:nvPr/>
        </p:nvSpPr>
        <p:spPr>
          <a:xfrm>
            <a:off x="4527857" y="2898648"/>
            <a:ext cx="7069479"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Synchrony rises smoothly, and the two curves lie on top of each other. The system moves from disorder to synchrony and back along the same path.</a:t>
            </a:r>
            <a:endParaRPr lang="en-US" sz="1800" dirty="0"/>
          </a:p>
        </p:txBody>
      </p:sp>
      <p:sp>
        <p:nvSpPr>
          <p:cNvPr id="11" name="Text 7"/>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research/s2_herding_explosive.py. Random network, 500 nodes, average degree 12, Gaussian frequencies, no noise.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With full herding: a sudden jump">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b="1" dirty="0">
                <a:solidFill>
                  <a:srgbClr val="FFFFFF"/>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With full herding: a sudden jump</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14</a:t>
            </a:r>
            <a:endParaRPr lang="en-US" sz="1200" dirty="0"/>
          </a:p>
        </p:txBody>
      </p:sp>
      <p:pic>
        <p:nvPicPr>
          <p:cNvPr id="6" name="Image 0" descr="With full herding: a sudden jump">    </p:cNvPr>
          <p:cNvPicPr>
            <a:picLocks noChangeAspect="1"/>
          </p:cNvPicPr>
          <p:nvPr/>
        </p:nvPicPr>
        <p:blipFill>
          <a:blip r:embed="rId1"/>
          <a:stretch>
            <a:fillRect/>
          </a:stretch>
        </p:blipFill>
        <p:spPr>
          <a:xfrm>
            <a:off x="594360" y="1417320"/>
            <a:ext cx="3019813" cy="4480560"/>
          </a:xfrm>
          <a:prstGeom prst="rect">
            <a:avLst/>
          </a:prstGeom>
        </p:spPr>
      </p:pic>
      <p:sp>
        <p:nvSpPr>
          <p:cNvPr id="7" name="Text 3"/>
          <p:cNvSpPr txBox="1"/>
          <p:nvPr/>
        </p:nvSpPr>
        <p:spPr>
          <a:xfrm>
            <a:off x="594360" y="5943600"/>
            <a:ext cx="3019813" cy="448564"/>
          </a:xfrm>
          <a:prstGeom prst="rect">
            <a:avLst/>
          </a:prstGeom>
          <a:noFill/>
          <a:ln/>
        </p:spPr>
        <p:txBody>
          <a:bodyPr wrap="square" lIns="0" tIns="0" rIns="0" bIns="0" rtlCol="0" anchor="t"/>
          <a:lstStyle/>
          <a:p>
            <a:pPr indent="0" marL="0">
              <a:lnSpc>
                <a:spcPct val="105000"/>
              </a:lnSpc>
              <a:buNone/>
            </a:pPr>
            <a:r>
              <a:rPr lang="en-US" sz="1300" dirty="0">
                <a:solidFill>
                  <a:srgbClr val="BFBFBF"/>
                </a:solidFill>
                <a:latin typeface="Calibri" pitchFamily="34" charset="0"/>
                <a:ea typeface="Calibri" pitchFamily="34" charset="-122"/>
                <a:cs typeface="Calibri" pitchFamily="34" charset="-120"/>
              </a:rPr>
              <a:t>Horizontal: coupling λ. Vertical: synchrony R.</a:t>
            </a:r>
            <a:endParaRPr lang="en-US" sz="1300" dirty="0"/>
          </a:p>
        </p:txBody>
      </p:sp>
      <p:sp>
        <p:nvSpPr>
          <p:cNvPr id="8" name="Text 4"/>
          <p:cNvSpPr txBox="1"/>
          <p:nvPr/>
        </p:nvSpPr>
        <p:spPr>
          <a:xfrm>
            <a:off x="4071373" y="1417320"/>
            <a:ext cx="7525962"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Every trader now uses adaptive coupling, with p = 1.</a:t>
            </a:r>
            <a:endParaRPr lang="en-US" sz="1800" dirty="0"/>
          </a:p>
        </p:txBody>
      </p:sp>
      <p:sp>
        <p:nvSpPr>
          <p:cNvPr id="9" name="Text 5"/>
          <p:cNvSpPr txBox="1"/>
          <p:nvPr/>
        </p:nvSpPr>
        <p:spPr>
          <a:xfrm>
            <a:off x="4071373" y="1879092"/>
            <a:ext cx="7525962"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Increasing the coupling (blue), synchrony stays near zero and then jumps to almost 1 at about 3.9.</a:t>
            </a:r>
            <a:endParaRPr lang="en-US" sz="1800" dirty="0"/>
          </a:p>
        </p:txBody>
      </p:sp>
      <p:sp>
        <p:nvSpPr>
          <p:cNvPr id="10" name="Text 6"/>
          <p:cNvSpPr txBox="1"/>
          <p:nvPr/>
        </p:nvSpPr>
        <p:spPr>
          <a:xfrm>
            <a:off x="4071373" y="2619756"/>
            <a:ext cx="7525962"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Decreasing it (orange), synchrony stays high and drops only at about 3.0.</a:t>
            </a:r>
            <a:endParaRPr lang="en-US" sz="1800" dirty="0"/>
          </a:p>
        </p:txBody>
      </p:sp>
      <p:sp>
        <p:nvSpPr>
          <p:cNvPr id="11" name="Text 7"/>
          <p:cNvSpPr txBox="1"/>
          <p:nvPr/>
        </p:nvSpPr>
        <p:spPr>
          <a:xfrm>
            <a:off x="4071373" y="3360420"/>
            <a:ext cx="7525962"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In market terms, a crash starts suddenly, and herding must fall well below that level before the market recovers.</a:t>
            </a:r>
            <a:endParaRPr lang="en-US" sz="1800" dirty="0"/>
          </a:p>
        </p:txBody>
      </p:sp>
      <p:sp>
        <p:nvSpPr>
          <p:cNvPr id="12" name="Text 8"/>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research/s2_herding_explosive.py and research/data/s2.log (jump up at 3.88, drop at 3.04). Same network, all nodes herding, no noise.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The herding market model">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herding market model</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15</a:t>
            </a:r>
            <a:endParaRPr lang="en-US" sz="1200" dirty="0"/>
          </a:p>
        </p:txBody>
      </p:sp>
      <p:pic>
        <p:nvPicPr>
          <p:cNvPr id="6" name="Image 0" descr="Equation m_phase">    </p:cNvPr>
          <p:cNvPicPr>
            <a:picLocks noChangeAspect="1"/>
          </p:cNvPicPr>
          <p:nvPr/>
        </p:nvPicPr>
        <p:blipFill>
          <a:blip r:embed="rId1"/>
          <a:stretch>
            <a:fillRect/>
          </a:stretch>
        </p:blipFill>
        <p:spPr>
          <a:xfrm>
            <a:off x="594360" y="1417320"/>
            <a:ext cx="9014841" cy="824789"/>
          </a:xfrm>
          <a:prstGeom prst="rect">
            <a:avLst/>
          </a:prstGeom>
        </p:spPr>
      </p:pic>
      <p:pic>
        <p:nvPicPr>
          <p:cNvPr id="7" name="Image 1" descr="Equation m_price">    </p:cNvPr>
          <p:cNvPicPr>
            <a:picLocks noChangeAspect="1"/>
          </p:cNvPicPr>
          <p:nvPr/>
        </p:nvPicPr>
        <p:blipFill>
          <a:blip r:embed="rId2"/>
          <a:stretch>
            <a:fillRect/>
          </a:stretch>
        </p:blipFill>
        <p:spPr>
          <a:xfrm>
            <a:off x="594360" y="2379269"/>
            <a:ext cx="7556373" cy="774497"/>
          </a:xfrm>
          <a:prstGeom prst="rect">
            <a:avLst/>
          </a:prstGeom>
        </p:spPr>
      </p:pic>
      <p:pic>
        <p:nvPicPr>
          <p:cNvPr id="8" name="Image 2" descr="Equation m_eps">    </p:cNvPr>
          <p:cNvPicPr>
            <a:picLocks noChangeAspect="1"/>
          </p:cNvPicPr>
          <p:nvPr/>
        </p:nvPicPr>
        <p:blipFill>
          <a:blip r:embed="rId3"/>
          <a:stretch>
            <a:fillRect/>
          </a:stretch>
        </p:blipFill>
        <p:spPr>
          <a:xfrm>
            <a:off x="594360" y="3614014"/>
            <a:ext cx="447599" cy="326898"/>
          </a:xfrm>
          <a:prstGeom prst="rect">
            <a:avLst/>
          </a:prstGeom>
        </p:spPr>
      </p:pic>
      <p:sp>
        <p:nvSpPr>
          <p:cNvPr id="9" name="Text 3"/>
          <p:cNvSpPr txBox="1"/>
          <p:nvPr/>
        </p:nvSpPr>
        <p:spPr>
          <a:xfrm>
            <a:off x="1874520" y="3382366"/>
            <a:ext cx="3992728" cy="835914"/>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is a common sell shock. Traders with sᵢ = 1 are pushed towards the selling phase.</a:t>
            </a:r>
            <a:endParaRPr lang="en-US" sz="1700" dirty="0"/>
          </a:p>
        </p:txBody>
      </p:sp>
      <p:pic>
        <p:nvPicPr>
          <p:cNvPr id="10" name="Image 3" descr="Equation m_sig">    </p:cNvPr>
          <p:cNvPicPr>
            <a:picLocks noChangeAspect="1"/>
          </p:cNvPicPr>
          <p:nvPr/>
        </p:nvPicPr>
        <p:blipFill>
          <a:blip r:embed="rId4"/>
          <a:stretch>
            <a:fillRect/>
          </a:stretch>
        </p:blipFill>
        <p:spPr>
          <a:xfrm>
            <a:off x="594360" y="4327373"/>
            <a:ext cx="754380" cy="326898"/>
          </a:xfrm>
          <a:prstGeom prst="rect">
            <a:avLst/>
          </a:prstGeom>
        </p:spPr>
      </p:pic>
      <p:sp>
        <p:nvSpPr>
          <p:cNvPr id="11" name="Text 4"/>
          <p:cNvSpPr txBox="1"/>
          <p:nvPr/>
        </p:nvSpPr>
        <p:spPr>
          <a:xfrm>
            <a:off x="1874520" y="4227424"/>
            <a:ext cx="3992728"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is each trader’s own news, which is different for every trader.</a:t>
            </a:r>
            <a:endParaRPr lang="en-US" sz="1700" dirty="0"/>
          </a:p>
        </p:txBody>
      </p:sp>
      <p:pic>
        <p:nvPicPr>
          <p:cNvPr id="12" name="Image 4" descr="Equation m_sigc">    </p:cNvPr>
          <p:cNvPicPr>
            <a:picLocks noChangeAspect="1"/>
          </p:cNvPicPr>
          <p:nvPr/>
        </p:nvPicPr>
        <p:blipFill>
          <a:blip r:embed="rId5"/>
          <a:stretch>
            <a:fillRect/>
          </a:stretch>
        </p:blipFill>
        <p:spPr>
          <a:xfrm>
            <a:off x="594360" y="4909033"/>
            <a:ext cx="849935" cy="326898"/>
          </a:xfrm>
          <a:prstGeom prst="rect">
            <a:avLst/>
          </a:prstGeom>
        </p:spPr>
      </p:pic>
      <p:sp>
        <p:nvSpPr>
          <p:cNvPr id="13" name="Text 5"/>
          <p:cNvSpPr txBox="1"/>
          <p:nvPr/>
        </p:nvSpPr>
        <p:spPr>
          <a:xfrm>
            <a:off x="1874520" y="4809084"/>
            <a:ext cx="3992728"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is common market news, which is the same for every trader.</a:t>
            </a:r>
            <a:endParaRPr lang="en-US" sz="1700" dirty="0"/>
          </a:p>
        </p:txBody>
      </p:sp>
      <p:pic>
        <p:nvPicPr>
          <p:cNvPr id="14" name="Image 5" descr="Equation m_Q">    </p:cNvPr>
          <p:cNvPicPr>
            <a:picLocks noChangeAspect="1"/>
          </p:cNvPicPr>
          <p:nvPr/>
        </p:nvPicPr>
        <p:blipFill>
          <a:blip r:embed="rId6"/>
          <a:stretch>
            <a:fillRect/>
          </a:stretch>
        </p:blipFill>
        <p:spPr>
          <a:xfrm>
            <a:off x="594360" y="5622392"/>
            <a:ext cx="294208" cy="326898"/>
          </a:xfrm>
          <a:prstGeom prst="rect">
            <a:avLst/>
          </a:prstGeom>
        </p:spPr>
      </p:pic>
      <p:sp>
        <p:nvSpPr>
          <p:cNvPr id="15" name="Text 6"/>
          <p:cNvSpPr txBox="1"/>
          <p:nvPr/>
        </p:nvSpPr>
        <p:spPr>
          <a:xfrm>
            <a:off x="1874520" y="5390744"/>
            <a:ext cx="3992728" cy="835914"/>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is the net order flow. Q = −1 means everyone sells and Q = +1 means everyone buys.</a:t>
            </a:r>
            <a:endParaRPr lang="en-US" sz="1700" dirty="0"/>
          </a:p>
        </p:txBody>
      </p:sp>
      <p:pic>
        <p:nvPicPr>
          <p:cNvPr id="16" name="Image 6" descr="Equation m_beta">    </p:cNvPr>
          <p:cNvPicPr>
            <a:picLocks noChangeAspect="1"/>
          </p:cNvPicPr>
          <p:nvPr/>
        </p:nvPicPr>
        <p:blipFill>
          <a:blip r:embed="rId7"/>
          <a:stretch>
            <a:fillRect/>
          </a:stretch>
        </p:blipFill>
        <p:spPr>
          <a:xfrm>
            <a:off x="6324448" y="3482315"/>
            <a:ext cx="233858" cy="326898"/>
          </a:xfrm>
          <a:prstGeom prst="rect">
            <a:avLst/>
          </a:prstGeom>
        </p:spPr>
      </p:pic>
      <p:sp>
        <p:nvSpPr>
          <p:cNvPr id="17" name="Text 7"/>
          <p:cNvSpPr txBox="1"/>
          <p:nvPr/>
        </p:nvSpPr>
        <p:spPr>
          <a:xfrm>
            <a:off x="7421728" y="3382366"/>
            <a:ext cx="4175608"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is the price impact: how strongly order flow moves the log price x.</a:t>
            </a:r>
            <a:endParaRPr lang="en-US" sz="1700" dirty="0"/>
          </a:p>
        </p:txBody>
      </p:sp>
      <p:pic>
        <p:nvPicPr>
          <p:cNvPr id="18" name="Image 7" descr="Equation m_kappa">    </p:cNvPr>
          <p:cNvPicPr>
            <a:picLocks noChangeAspect="1"/>
          </p:cNvPicPr>
          <p:nvPr/>
        </p:nvPicPr>
        <p:blipFill>
          <a:blip r:embed="rId8"/>
          <a:stretch>
            <a:fillRect/>
          </a:stretch>
        </p:blipFill>
        <p:spPr>
          <a:xfrm>
            <a:off x="6324448" y="4063975"/>
            <a:ext cx="236372" cy="326898"/>
          </a:xfrm>
          <a:prstGeom prst="rect">
            <a:avLst/>
          </a:prstGeom>
        </p:spPr>
      </p:pic>
      <p:sp>
        <p:nvSpPr>
          <p:cNvPr id="19" name="Text 8"/>
          <p:cNvSpPr txBox="1"/>
          <p:nvPr/>
        </p:nvSpPr>
        <p:spPr>
          <a:xfrm>
            <a:off x="7421728" y="3964026"/>
            <a:ext cx="4175608"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is the pull of value investors back towards the fundamental value.</a:t>
            </a:r>
            <a:endParaRPr lang="en-US" sz="1700" dirty="0"/>
          </a:p>
        </p:txBody>
      </p:sp>
      <p:pic>
        <p:nvPicPr>
          <p:cNvPr id="20" name="Image 8" descr="Equation m_eta">    </p:cNvPr>
          <p:cNvPicPr>
            <a:picLocks noChangeAspect="1"/>
          </p:cNvPicPr>
          <p:nvPr/>
        </p:nvPicPr>
        <p:blipFill>
          <a:blip r:embed="rId9"/>
          <a:stretch>
            <a:fillRect/>
          </a:stretch>
        </p:blipFill>
        <p:spPr>
          <a:xfrm>
            <a:off x="6324448" y="4545686"/>
            <a:ext cx="618592" cy="326898"/>
          </a:xfrm>
          <a:prstGeom prst="rect">
            <a:avLst/>
          </a:prstGeom>
        </p:spPr>
      </p:pic>
      <p:sp>
        <p:nvSpPr>
          <p:cNvPr id="21" name="Text 9"/>
          <p:cNvSpPr txBox="1"/>
          <p:nvPr/>
        </p:nvSpPr>
        <p:spPr>
          <a:xfrm>
            <a:off x="7421728" y="4577436"/>
            <a:ext cx="4175608" cy="309118"/>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is random noise in the price itself.</a:t>
            </a:r>
            <a:endParaRPr lang="en-US" sz="1700" dirty="0"/>
          </a:p>
        </p:txBody>
      </p:sp>
      <p:sp>
        <p:nvSpPr>
          <p:cNvPr id="22" name="Text 10"/>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research/model.py (the equations) and research/s3_crash_anatomy.py (parameter values).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What the phase means for a trader">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b="1" dirty="0">
                <a:solidFill>
                  <a:srgbClr val="FFFFFF"/>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What the phase means for a trader</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16</a:t>
            </a:r>
            <a:endParaRPr lang="en-US" sz="1200" dirty="0"/>
          </a:p>
        </p:txBody>
      </p:sp>
      <p:pic>
        <p:nvPicPr>
          <p:cNvPr id="6" name="Image 0" descr="Equation m_q">    </p:cNvPr>
          <p:cNvPicPr>
            <a:picLocks noChangeAspect="1"/>
          </p:cNvPicPr>
          <p:nvPr/>
        </p:nvPicPr>
        <p:blipFill>
          <a:blip r:embed="rId1"/>
          <a:stretch>
            <a:fillRect/>
          </a:stretch>
        </p:blipFill>
        <p:spPr>
          <a:xfrm>
            <a:off x="594360" y="1463040"/>
            <a:ext cx="3667658" cy="968350"/>
          </a:xfrm>
          <a:prstGeom prst="rect">
            <a:avLst/>
          </a:prstGeom>
        </p:spPr>
      </p:pic>
      <p:sp>
        <p:nvSpPr>
          <p:cNvPr id="7" name="Text 3"/>
          <p:cNvSpPr txBox="1"/>
          <p:nvPr/>
        </p:nvSpPr>
        <p:spPr>
          <a:xfrm>
            <a:off x="594360" y="2705710"/>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θ = π/2 (90°)</a:t>
            </a:r>
            <a:endParaRPr lang="en-US" sz="1800" dirty="0"/>
          </a:p>
        </p:txBody>
      </p:sp>
      <p:sp>
        <p:nvSpPr>
          <p:cNvPr id="8" name="Text 4"/>
          <p:cNvSpPr txBox="1"/>
          <p:nvPr/>
        </p:nvSpPr>
        <p:spPr>
          <a:xfrm>
            <a:off x="3520440" y="2705710"/>
            <a:ext cx="8076895"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order is q = +1. The trader is buying at full strength.</a:t>
            </a:r>
            <a:endParaRPr lang="en-US" sz="1800" dirty="0"/>
          </a:p>
        </p:txBody>
      </p:sp>
      <p:sp>
        <p:nvSpPr>
          <p:cNvPr id="9" name="Text 5"/>
          <p:cNvSpPr txBox="1"/>
          <p:nvPr/>
        </p:nvSpPr>
        <p:spPr>
          <a:xfrm>
            <a:off x="594360" y="3167482"/>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θ = −π/2 (−90°)</a:t>
            </a:r>
            <a:endParaRPr lang="en-US" sz="1800" dirty="0"/>
          </a:p>
        </p:txBody>
      </p:sp>
      <p:sp>
        <p:nvSpPr>
          <p:cNvPr id="10" name="Text 6"/>
          <p:cNvSpPr txBox="1"/>
          <p:nvPr/>
        </p:nvSpPr>
        <p:spPr>
          <a:xfrm>
            <a:off x="3520440" y="3167482"/>
            <a:ext cx="8076895"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order is q = −1. The trader is selling at full strength.</a:t>
            </a:r>
            <a:endParaRPr lang="en-US" sz="1800" dirty="0"/>
          </a:p>
        </p:txBody>
      </p:sp>
      <p:sp>
        <p:nvSpPr>
          <p:cNvPr id="11" name="Text 7"/>
          <p:cNvSpPr txBox="1"/>
          <p:nvPr/>
        </p:nvSpPr>
        <p:spPr>
          <a:xfrm>
            <a:off x="594360" y="3629254"/>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θ = 0 or π</a:t>
            </a:r>
            <a:endParaRPr lang="en-US" sz="1800" dirty="0"/>
          </a:p>
        </p:txBody>
      </p:sp>
      <p:sp>
        <p:nvSpPr>
          <p:cNvPr id="12" name="Text 8"/>
          <p:cNvSpPr txBox="1"/>
          <p:nvPr/>
        </p:nvSpPr>
        <p:spPr>
          <a:xfrm>
            <a:off x="3520440" y="3629254"/>
            <a:ext cx="807689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order is q = 0. The trader is switching between buying and selling.</a:t>
            </a:r>
            <a:endParaRPr lang="en-US" sz="1800" dirty="0"/>
          </a:p>
        </p:txBody>
      </p:sp>
      <p:sp>
        <p:nvSpPr>
          <p:cNvPr id="13" name="Text 9"/>
          <p:cNvSpPr txBox="1"/>
          <p:nvPr/>
        </p:nvSpPr>
        <p:spPr>
          <a:xfrm>
            <a:off x="594360" y="4369918"/>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A trader on its own</a:t>
            </a:r>
            <a:endParaRPr lang="en-US" sz="1800" dirty="0"/>
          </a:p>
        </p:txBody>
      </p:sp>
      <p:sp>
        <p:nvSpPr>
          <p:cNvPr id="14" name="Text 10"/>
          <p:cNvSpPr txBox="1"/>
          <p:nvPr/>
        </p:nvSpPr>
        <p:spPr>
          <a:xfrm>
            <a:off x="3520440" y="4369918"/>
            <a:ext cx="807689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It runs round the circle at its own speed ω, so it alternates between buying and selling.</a:t>
            </a:r>
            <a:endParaRPr lang="en-US" sz="1800" dirty="0"/>
          </a:p>
        </p:txBody>
      </p:sp>
      <p:sp>
        <p:nvSpPr>
          <p:cNvPr id="15" name="Text 11"/>
          <p:cNvSpPr txBox="1"/>
          <p:nvPr/>
        </p:nvSpPr>
        <p:spPr>
          <a:xfrm>
            <a:off x="594360" y="5110582"/>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The whole market</a:t>
            </a:r>
            <a:endParaRPr lang="en-US" sz="1800" dirty="0"/>
          </a:p>
        </p:txBody>
      </p:sp>
      <p:sp>
        <p:nvSpPr>
          <p:cNvPr id="16" name="Text 12"/>
          <p:cNvSpPr txBox="1"/>
          <p:nvPr/>
        </p:nvSpPr>
        <p:spPr>
          <a:xfrm>
            <a:off x="3520440" y="5110582"/>
            <a:ext cx="807689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Q is the average order. With phases spread out, buys and sells cancel and Q ≈ 0. With most traders locked near −π/2, Q ≈ −1 and the whole market sells.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The sell shock: sin(−π/2 − θ)">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b="1" dirty="0">
                <a:solidFill>
                  <a:srgbClr val="FFFFFF"/>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The sell shock: sin(−π/2 − θ)</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17</a:t>
            </a:r>
            <a:endParaRPr lang="en-US" sz="1200" dirty="0"/>
          </a:p>
        </p:txBody>
      </p:sp>
      <p:pic>
        <p:nvPicPr>
          <p:cNvPr id="6" name="Image 0" descr="Equation m_shock">    </p:cNvPr>
          <p:cNvPicPr>
            <a:picLocks noChangeAspect="1"/>
          </p:cNvPicPr>
          <p:nvPr/>
        </p:nvPicPr>
        <p:blipFill>
          <a:blip r:embed="rId1"/>
          <a:stretch>
            <a:fillRect/>
          </a:stretch>
        </p:blipFill>
        <p:spPr>
          <a:xfrm>
            <a:off x="594360" y="1463040"/>
            <a:ext cx="2886761" cy="752094"/>
          </a:xfrm>
          <a:prstGeom prst="rect">
            <a:avLst/>
          </a:prstGeom>
        </p:spPr>
      </p:pic>
      <p:sp>
        <p:nvSpPr>
          <p:cNvPr id="7" name="Text 3"/>
          <p:cNvSpPr txBox="1"/>
          <p:nvPr/>
        </p:nvSpPr>
        <p:spPr>
          <a:xfrm>
            <a:off x="594360" y="2489454"/>
            <a:ext cx="2743200" cy="572516"/>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Same form as the coupling</a:t>
            </a:r>
            <a:endParaRPr lang="en-US" sz="1700" dirty="0"/>
          </a:p>
        </p:txBody>
      </p:sp>
      <p:sp>
        <p:nvSpPr>
          <p:cNvPr id="8" name="Text 4"/>
          <p:cNvSpPr txBox="1"/>
          <p:nvPr/>
        </p:nvSpPr>
        <p:spPr>
          <a:xfrm>
            <a:off x="3520440" y="2489454"/>
            <a:ext cx="8076895" cy="835914"/>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It is the Kuramoto pull towards a fixed phase, −π/2, instead of towards another trader. A trader hit by the shock acts as if it watched a phantom trader who always sells.</a:t>
            </a:r>
            <a:endParaRPr lang="en-US" sz="1700" dirty="0"/>
          </a:p>
        </p:txBody>
      </p:sp>
      <p:sp>
        <p:nvSpPr>
          <p:cNvPr id="9" name="Text 5"/>
          <p:cNvSpPr txBox="1"/>
          <p:nvPr/>
        </p:nvSpPr>
        <p:spPr>
          <a:xfrm>
            <a:off x="594360" y="3407664"/>
            <a:ext cx="274320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Direction of the push</a:t>
            </a:r>
            <a:endParaRPr lang="en-US" sz="1700" dirty="0"/>
          </a:p>
        </p:txBody>
      </p:sp>
      <p:sp>
        <p:nvSpPr>
          <p:cNvPr id="10" name="Text 6"/>
          <p:cNvSpPr txBox="1"/>
          <p:nvPr/>
        </p:nvSpPr>
        <p:spPr>
          <a:xfrm>
            <a:off x="3520440" y="3407664"/>
            <a:ext cx="8076895" cy="835914"/>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Behind −π/2 the term is positive and pushes the phase forward, ahead of it the term is negative, and at −π/2 it is zero. The trader is driven to full selling and held there.</a:t>
            </a:r>
            <a:endParaRPr lang="en-US" sz="1700" dirty="0"/>
          </a:p>
        </p:txBody>
      </p:sp>
      <p:sp>
        <p:nvSpPr>
          <p:cNvPr id="11" name="Text 7"/>
          <p:cNvSpPr txBox="1"/>
          <p:nvPr/>
        </p:nvSpPr>
        <p:spPr>
          <a:xfrm>
            <a:off x="594360" y="4325874"/>
            <a:ext cx="274320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Strength ε</a:t>
            </a:r>
            <a:endParaRPr lang="en-US" sz="1700" dirty="0"/>
          </a:p>
        </p:txBody>
      </p:sp>
      <p:sp>
        <p:nvSpPr>
          <p:cNvPr id="12" name="Text 8"/>
          <p:cNvSpPr txBox="1"/>
          <p:nvPr/>
        </p:nvSpPr>
        <p:spPr>
          <a:xfrm>
            <a:off x="3520440" y="4325874"/>
            <a:ext cx="807689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In the crash simulations a strong shock ε = 1.2 lasts 8 time units, and a weak bearish background ε = 0.02 is always on.</a:t>
            </a:r>
            <a:endParaRPr lang="en-US" sz="1700" dirty="0"/>
          </a:p>
        </p:txBody>
      </p:sp>
      <p:sp>
        <p:nvSpPr>
          <p:cNvPr id="13" name="Text 9"/>
          <p:cNvSpPr txBox="1"/>
          <p:nvPr/>
        </p:nvSpPr>
        <p:spPr>
          <a:xfrm>
            <a:off x="594360" y="4980686"/>
            <a:ext cx="274320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Who is hit, sᵢ</a:t>
            </a:r>
            <a:endParaRPr lang="en-US" sz="1700" dirty="0"/>
          </a:p>
        </p:txBody>
      </p:sp>
      <p:sp>
        <p:nvSpPr>
          <p:cNvPr id="14" name="Text 10"/>
          <p:cNvSpPr txBox="1"/>
          <p:nvPr/>
        </p:nvSpPr>
        <p:spPr>
          <a:xfrm>
            <a:off x="3520440" y="4980686"/>
            <a:ext cx="807689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sᵢ = 1 for traders who receive the news and 0 for the rest. Hitting 10 to 15% of traders, especially hubs, can be enough for a lasting crash.</a:t>
            </a:r>
            <a:endParaRPr lang="en-US" sz="1700" dirty="0"/>
          </a:p>
        </p:txBody>
      </p:sp>
      <p:sp>
        <p:nvSpPr>
          <p:cNvPr id="15" name="Text 11"/>
          <p:cNvSpPr txBox="1"/>
          <p:nvPr/>
        </p:nvSpPr>
        <p:spPr>
          <a:xfrm>
            <a:off x="594360" y="5635498"/>
            <a:ext cx="274320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Why a weak background</a:t>
            </a:r>
            <a:endParaRPr lang="en-US" sz="1700" dirty="0"/>
          </a:p>
        </p:txBody>
      </p:sp>
      <p:sp>
        <p:nvSpPr>
          <p:cNvPr id="16" name="Text 12"/>
          <p:cNvSpPr txBox="1"/>
          <p:nvPr/>
        </p:nvSpPr>
        <p:spPr>
          <a:xfrm>
            <a:off x="3520440" y="5635498"/>
            <a:ext cx="8076895" cy="835914"/>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Without any directional news, a locked herd’s common phase slowly drifts from selling to buying, a boom-bust whipsaw. The weak term keeps it on the selling side.</a:t>
            </a:r>
            <a:endParaRPr lang="en-US" sz="1700" dirty="0"/>
          </a:p>
        </p:txBody>
      </p:sp>
      <p:sp>
        <p:nvSpPr>
          <p:cNvPr id="17" name="Text 13"/>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research/s3_crash_anatomy.py (ε = 1.2 for 8 time units, background ε = 0.02) and research/s4_crash_phase_diagram.py (10 to 15% of traders, hubs).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Noise: private news and common new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b="1" dirty="0">
                <a:solidFill>
                  <a:srgbClr val="FFFFFF"/>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Noise: private news and common news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18</a:t>
            </a:r>
            <a:endParaRPr lang="en-US" sz="1200" dirty="0"/>
          </a:p>
        </p:txBody>
      </p:sp>
      <p:pic>
        <p:nvPicPr>
          <p:cNvPr id="6" name="Image 0" descr="Equation m_dW">    </p:cNvPr>
          <p:cNvPicPr>
            <a:picLocks noChangeAspect="1"/>
          </p:cNvPicPr>
          <p:nvPr/>
        </p:nvPicPr>
        <p:blipFill>
          <a:blip r:embed="rId1"/>
          <a:stretch>
            <a:fillRect/>
          </a:stretch>
        </p:blipFill>
        <p:spPr>
          <a:xfrm>
            <a:off x="594360" y="1463040"/>
            <a:ext cx="4833518" cy="389534"/>
          </a:xfrm>
          <a:prstGeom prst="rect">
            <a:avLst/>
          </a:prstGeom>
        </p:spPr>
      </p:pic>
      <p:pic>
        <p:nvPicPr>
          <p:cNvPr id="7" name="Image 1" descr="Equation m_sig">    </p:cNvPr>
          <p:cNvPicPr>
            <a:picLocks noChangeAspect="1"/>
          </p:cNvPicPr>
          <p:nvPr/>
        </p:nvPicPr>
        <p:blipFill>
          <a:blip r:embed="rId2"/>
          <a:stretch>
            <a:fillRect/>
          </a:stretch>
        </p:blipFill>
        <p:spPr>
          <a:xfrm>
            <a:off x="594360" y="2352065"/>
            <a:ext cx="891540" cy="386334"/>
          </a:xfrm>
          <a:prstGeom prst="rect">
            <a:avLst/>
          </a:prstGeom>
        </p:spPr>
      </p:pic>
      <p:sp>
        <p:nvSpPr>
          <p:cNvPr id="8" name="Text 3"/>
          <p:cNvSpPr txBox="1"/>
          <p:nvPr/>
        </p:nvSpPr>
        <p:spPr>
          <a:xfrm>
            <a:off x="2148840" y="2126894"/>
            <a:ext cx="944849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private news. Each trader gets its own random kick at every step, with mean zero and variance proportional to the step, so the kicks add up like a random walk.</a:t>
            </a:r>
            <a:endParaRPr lang="en-US" sz="1800" dirty="0"/>
          </a:p>
        </p:txBody>
      </p:sp>
      <p:pic>
        <p:nvPicPr>
          <p:cNvPr id="9" name="Image 2" descr="Equation m_sigc">    </p:cNvPr>
          <p:cNvPicPr>
            <a:picLocks noChangeAspect="1"/>
          </p:cNvPicPr>
          <p:nvPr/>
        </p:nvPicPr>
        <p:blipFill>
          <a:blip r:embed="rId3"/>
          <a:stretch>
            <a:fillRect/>
          </a:stretch>
        </p:blipFill>
        <p:spPr>
          <a:xfrm>
            <a:off x="594360" y="3232175"/>
            <a:ext cx="1004468" cy="386334"/>
          </a:xfrm>
          <a:prstGeom prst="rect">
            <a:avLst/>
          </a:prstGeom>
        </p:spPr>
      </p:pic>
      <p:sp>
        <p:nvSpPr>
          <p:cNvPr id="10" name="Text 4"/>
          <p:cNvSpPr txBox="1"/>
          <p:nvPr/>
        </p:nvSpPr>
        <p:spPr>
          <a:xfrm>
            <a:off x="2148840" y="3146450"/>
            <a:ext cx="944849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is common news. One random kick is shared by every trader, so it moves all phases together. It is what makes different stocks move together.</a:t>
            </a:r>
            <a:endParaRPr lang="en-US" sz="1800" dirty="0"/>
          </a:p>
        </p:txBody>
      </p:sp>
      <p:sp>
        <p:nvSpPr>
          <p:cNvPr id="11" name="Text 5"/>
          <p:cNvSpPr txBox="1"/>
          <p:nvPr/>
        </p:nvSpPr>
        <p:spPr>
          <a:xfrm>
            <a:off x="594360" y="3978554"/>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Noise blurs a crash</a:t>
            </a:r>
            <a:endParaRPr lang="en-US" sz="1800" dirty="0"/>
          </a:p>
        </p:txBody>
      </p:sp>
      <p:sp>
        <p:nvSpPr>
          <p:cNvPr id="12" name="Text 6"/>
          <p:cNvSpPr txBox="1"/>
          <p:nvPr/>
        </p:nvSpPr>
        <p:spPr>
          <a:xfrm>
            <a:off x="3520440" y="3978554"/>
            <a:ext cx="807689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Private noise shakes locked traders. With σ = 0.3 the lowest herding at which a crash can survive rose from 3.04 to 3.21 in my runs.</a:t>
            </a:r>
            <a:endParaRPr lang="en-US" sz="1800" dirty="0"/>
          </a:p>
        </p:txBody>
      </p:sp>
      <p:sp>
        <p:nvSpPr>
          <p:cNvPr id="13" name="Text 7"/>
          <p:cNvSpPr txBox="1"/>
          <p:nvPr/>
        </p:nvSpPr>
        <p:spPr>
          <a:xfrm>
            <a:off x="594360" y="4719218"/>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Noise can start a crash</a:t>
            </a:r>
            <a:endParaRPr lang="en-US" sz="1800" dirty="0"/>
          </a:p>
        </p:txBody>
      </p:sp>
      <p:sp>
        <p:nvSpPr>
          <p:cNvPr id="14" name="Text 8"/>
          <p:cNvSpPr txBox="1"/>
          <p:nvPr/>
        </p:nvSpPr>
        <p:spPr>
          <a:xfrm>
            <a:off x="3520440" y="4719218"/>
            <a:ext cx="8076895"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Near the crash threshold, random kicks can line up enough sellers by chance. At herding 3.8 a quarter of simulated markets crashed with no shock, and at 4.3 all did.</a:t>
            </a:r>
            <a:endParaRPr lang="en-US" sz="1800" dirty="0"/>
          </a:p>
        </p:txBody>
      </p:sp>
      <p:sp>
        <p:nvSpPr>
          <p:cNvPr id="15" name="Text 9"/>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research/data/s2.log (3.04 without noise, 3.21 with σ = 0.3) and research/s4_crash_phase_diagram.py (crashes with no shock at 3.8 and 4.3).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From orders to price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b="1" dirty="0">
                <a:solidFill>
                  <a:srgbClr val="FFFFFF"/>
                </a:solidFill>
                <a:latin typeface="Calibri" pitchFamily="34" charset="0"/>
                <a:ea typeface="Calibri" pitchFamily="34" charset="-122"/>
                <a:cs typeface="Calibri" pitchFamily="34" charset="-120"/>
              </a:rPr>
              <a:t>Market model      </a:t>
            </a:r>
            <a:pPr indent="0" marL="0">
              <a:buNone/>
            </a:pPr>
            <a:r>
              <a:rPr lang="en-US" sz="1400" dirty="0">
                <a:solidFill>
                  <a:srgbClr val="7A7A7A"/>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From orders to prices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19</a:t>
            </a:r>
            <a:endParaRPr lang="en-US" sz="1200" dirty="0"/>
          </a:p>
        </p:txBody>
      </p:sp>
      <p:pic>
        <p:nvPicPr>
          <p:cNvPr id="6" name="Image 0" descr="Equation m_dx">    </p:cNvPr>
          <p:cNvPicPr>
            <a:picLocks noChangeAspect="1"/>
          </p:cNvPicPr>
          <p:nvPr/>
        </p:nvPicPr>
        <p:blipFill>
          <a:blip r:embed="rId1"/>
          <a:stretch>
            <a:fillRect/>
          </a:stretch>
        </p:blipFill>
        <p:spPr>
          <a:xfrm>
            <a:off x="594360" y="1463040"/>
            <a:ext cx="5461711" cy="389534"/>
          </a:xfrm>
          <a:prstGeom prst="rect">
            <a:avLst/>
          </a:prstGeom>
        </p:spPr>
      </p:pic>
      <p:sp>
        <p:nvSpPr>
          <p:cNvPr id="7" name="Text 3"/>
          <p:cNvSpPr txBox="1"/>
          <p:nvPr/>
        </p:nvSpPr>
        <p:spPr>
          <a:xfrm>
            <a:off x="594360" y="2081174"/>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x</a:t>
            </a:r>
            <a:endParaRPr lang="en-US" sz="1800" dirty="0"/>
          </a:p>
        </p:txBody>
      </p:sp>
      <p:sp>
        <p:nvSpPr>
          <p:cNvPr id="8" name="Text 4"/>
          <p:cNvSpPr txBox="1"/>
          <p:nvPr/>
        </p:nvSpPr>
        <p:spPr>
          <a:xfrm>
            <a:off x="3520440" y="2081174"/>
            <a:ext cx="807689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log price relative to the fundamental value. P = 100 eˣ, so x = 0 means a price of 100.</a:t>
            </a:r>
            <a:endParaRPr lang="en-US" sz="1800" dirty="0"/>
          </a:p>
        </p:txBody>
      </p:sp>
      <p:sp>
        <p:nvSpPr>
          <p:cNvPr id="9" name="Text 5"/>
          <p:cNvSpPr txBox="1"/>
          <p:nvPr/>
        </p:nvSpPr>
        <p:spPr>
          <a:xfrm>
            <a:off x="594360" y="2776118"/>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Price impact βQ</a:t>
            </a:r>
            <a:endParaRPr lang="en-US" sz="1800" dirty="0"/>
          </a:p>
        </p:txBody>
      </p:sp>
      <p:sp>
        <p:nvSpPr>
          <p:cNvPr id="10" name="Text 6"/>
          <p:cNvSpPr txBox="1"/>
          <p:nvPr/>
        </p:nvSpPr>
        <p:spPr>
          <a:xfrm>
            <a:off x="3520440" y="2776118"/>
            <a:ext cx="807689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Order imbalance moves the price. Net selling (Q &lt; 0) pushes it down. In the simulations β = 0.01.</a:t>
            </a:r>
            <a:endParaRPr lang="en-US" sz="1800" dirty="0"/>
          </a:p>
        </p:txBody>
      </p:sp>
      <p:sp>
        <p:nvSpPr>
          <p:cNvPr id="11" name="Text 7"/>
          <p:cNvSpPr txBox="1"/>
          <p:nvPr/>
        </p:nvSpPr>
        <p:spPr>
          <a:xfrm>
            <a:off x="594360" y="3471062"/>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Value investors −κx</a:t>
            </a:r>
            <a:endParaRPr lang="en-US" sz="1800" dirty="0"/>
          </a:p>
        </p:txBody>
      </p:sp>
      <p:sp>
        <p:nvSpPr>
          <p:cNvPr id="12" name="Text 8"/>
          <p:cNvSpPr txBox="1"/>
          <p:nvPr/>
        </p:nvSpPr>
        <p:spPr>
          <a:xfrm>
            <a:off x="3520440" y="3471062"/>
            <a:ext cx="8076895"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They buy when the price is below its fundamental value and sell when it is above, pulling x back to 0. In the simulations κ = 0.05.</a:t>
            </a:r>
            <a:endParaRPr lang="en-US" sz="1800" dirty="0"/>
          </a:p>
        </p:txBody>
      </p:sp>
      <p:sp>
        <p:nvSpPr>
          <p:cNvPr id="13" name="Text 9"/>
          <p:cNvSpPr txBox="1"/>
          <p:nvPr/>
        </p:nvSpPr>
        <p:spPr>
          <a:xfrm>
            <a:off x="594360" y="4166006"/>
            <a:ext cx="2743200" cy="324612"/>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Price noise η dB</a:t>
            </a:r>
            <a:endParaRPr lang="en-US" sz="1800" dirty="0"/>
          </a:p>
        </p:txBody>
      </p:sp>
      <p:sp>
        <p:nvSpPr>
          <p:cNvPr id="14" name="Text 10"/>
          <p:cNvSpPr txBox="1"/>
          <p:nvPr/>
        </p:nvSpPr>
        <p:spPr>
          <a:xfrm>
            <a:off x="3520440" y="4166006"/>
            <a:ext cx="8076895"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Random noise in the price itself, separate from the traders’ news.</a:t>
            </a:r>
            <a:endParaRPr lang="en-US" sz="1800" dirty="0"/>
          </a:p>
        </p:txBody>
      </p:sp>
      <p:sp>
        <p:nvSpPr>
          <p:cNvPr id="15" name="Text 11"/>
          <p:cNvSpPr txBox="1"/>
          <p:nvPr/>
        </p:nvSpPr>
        <p:spPr>
          <a:xfrm>
            <a:off x="594360" y="4627778"/>
            <a:ext cx="11002975" cy="603504"/>
          </a:xfrm>
          <a:prstGeom prst="rect">
            <a:avLst/>
          </a:prstGeom>
          <a:noFill/>
          <a:ln/>
        </p:spPr>
        <p:txBody>
          <a:bodyPr wrap="square" lIns="0" tIns="0" rIns="0" bIns="0" rtlCol="0" anchor="t"/>
          <a:lstStyle/>
          <a:p>
            <a:pPr indent="0" marL="0">
              <a:lnSpc>
                <a:spcPct val="105000"/>
              </a:lnSpc>
              <a:buNone/>
            </a:pPr>
            <a:r>
              <a:rPr lang="en-US" sz="1800" b="1" dirty="0">
                <a:solidFill>
                  <a:srgbClr val="FFFFFF"/>
                </a:solidFill>
                <a:latin typeface="Calibri" pitchFamily="34" charset="0"/>
                <a:ea typeface="Calibri" pitchFamily="34" charset="-122"/>
                <a:cs typeface="Calibri" pitchFamily="34" charset="-120"/>
              </a:rPr>
              <a:t>If Q stays constant, the price settles where the two forces balance. When everyone sells, it settles near 82, which is where the simulated crashes end.</a:t>
            </a:r>
            <a:endParaRPr lang="en-US" sz="1800" dirty="0"/>
          </a:p>
        </p:txBody>
      </p:sp>
      <p:pic>
        <p:nvPicPr>
          <p:cNvPr id="16" name="Image 1" descr="Equation m_xstar">    </p:cNvPr>
          <p:cNvPicPr>
            <a:picLocks noChangeAspect="1"/>
          </p:cNvPicPr>
          <p:nvPr/>
        </p:nvPicPr>
        <p:blipFill>
          <a:blip r:embed="rId2"/>
          <a:stretch>
            <a:fillRect/>
          </a:stretch>
        </p:blipFill>
        <p:spPr>
          <a:xfrm>
            <a:off x="594360" y="5368442"/>
            <a:ext cx="5812841" cy="710489"/>
          </a:xfrm>
          <a:prstGeom prst="rect">
            <a:avLst/>
          </a:prstGeom>
        </p:spPr>
      </p:pic>
      <p:sp>
        <p:nvSpPr>
          <p:cNvPr id="17" name="Text 12"/>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research/s3_crash_anatomy.py (β = 0.01, κ = 0.05, final prices 82.9 and 87.0). The 82 follows from the price equation.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From disorder to synchrony: how a crash start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b="1" dirty="0">
                <a:solidFill>
                  <a:srgbClr val="FFFFFF"/>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From disorder to synchrony: how a crash starts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20</a:t>
            </a:r>
            <a:endParaRPr lang="en-US" sz="1200" dirty="0"/>
          </a:p>
        </p:txBody>
      </p:sp>
      <p:pic>
        <p:nvPicPr>
          <p:cNvPr id="6" name="Image 0" descr="Equation m_pulls">    </p:cNvPr>
          <p:cNvPicPr>
            <a:picLocks noChangeAspect="1"/>
          </p:cNvPicPr>
          <p:nvPr/>
        </p:nvPicPr>
        <p:blipFill>
          <a:blip r:embed="rId1"/>
          <a:stretch>
            <a:fillRect/>
          </a:stretch>
        </p:blipFill>
        <p:spPr>
          <a:xfrm>
            <a:off x="594360" y="1417320"/>
            <a:ext cx="4714875" cy="374675"/>
          </a:xfrm>
          <a:prstGeom prst="rect">
            <a:avLst/>
          </a:prstGeom>
        </p:spPr>
      </p:pic>
      <p:sp>
        <p:nvSpPr>
          <p:cNvPr id="7" name="Shape 3"/>
          <p:cNvSpPr/>
          <p:nvPr/>
        </p:nvSpPr>
        <p:spPr>
          <a:xfrm>
            <a:off x="594360" y="1974875"/>
            <a:ext cx="5135728" cy="0"/>
          </a:xfrm>
          <a:prstGeom prst="line">
            <a:avLst/>
          </a:prstGeom>
          <a:noFill/>
          <a:ln w="12700">
            <a:solidFill>
              <a:srgbClr val="4D4D4D"/>
            </a:solidFill>
            <a:prstDash val="solid"/>
          </a:ln>
        </p:spPr>
      </p:sp>
      <p:sp>
        <p:nvSpPr>
          <p:cNvPr id="8" name="Text 4"/>
          <p:cNvSpPr txBox="1"/>
          <p:nvPr/>
        </p:nvSpPr>
        <p:spPr>
          <a:xfrm>
            <a:off x="594360" y="2084603"/>
            <a:ext cx="5135728" cy="262636"/>
          </a:xfrm>
          <a:prstGeom prst="rect">
            <a:avLst/>
          </a:prstGeom>
          <a:noFill/>
          <a:ln/>
        </p:spPr>
        <p:txBody>
          <a:bodyPr wrap="square" lIns="0" tIns="0" rIns="0" bIns="0" rtlCol="0" anchor="t"/>
          <a:lstStyle/>
          <a:p>
            <a:pPr indent="0" marL="0">
              <a:lnSpc>
                <a:spcPct val="105000"/>
              </a:lnSpc>
              <a:buNone/>
            </a:pPr>
            <a:r>
              <a:rPr lang="en-US" sz="1400" b="1" spc="200" kern="0" dirty="0">
                <a:solidFill>
                  <a:srgbClr val="BFBFBF"/>
                </a:solidFill>
                <a:latin typeface="Calibri" pitchFamily="34" charset="0"/>
                <a:ea typeface="Calibri" pitchFamily="34" charset="-122"/>
                <a:cs typeface="Calibri" pitchFamily="34" charset="-120"/>
              </a:rPr>
              <a:t>THE PHYSICS</a:t>
            </a:r>
            <a:endParaRPr lang="en-US" sz="1400" dirty="0"/>
          </a:p>
        </p:txBody>
      </p:sp>
      <p:sp>
        <p:nvSpPr>
          <p:cNvPr id="9" name="Text 5"/>
          <p:cNvSpPr txBox="1"/>
          <p:nvPr/>
        </p:nvSpPr>
        <p:spPr>
          <a:xfrm>
            <a:off x="594360" y="2420391"/>
            <a:ext cx="5135728" cy="789432"/>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In ordinary Kuramoto the group pulls each oscillator with strength KR. Even a small cluster pulls a little, so synchrony grows smoothly.</a:t>
            </a:r>
            <a:endParaRPr lang="en-US" sz="1600" dirty="0"/>
          </a:p>
        </p:txBody>
      </p:sp>
      <p:sp>
        <p:nvSpPr>
          <p:cNvPr id="10" name="Text 6"/>
          <p:cNvSpPr txBox="1"/>
          <p:nvPr/>
        </p:nvSpPr>
        <p:spPr>
          <a:xfrm>
            <a:off x="594360" y="3282975"/>
            <a:ext cx="5135728" cy="1037336"/>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With adaptive coupling the pull is the one shown on the right above. It is tiny when R is small, so a small cluster has almost no pull and disorder is stable.</a:t>
            </a:r>
            <a:endParaRPr lang="en-US" sz="1600" dirty="0"/>
          </a:p>
        </p:txBody>
      </p:sp>
      <p:sp>
        <p:nvSpPr>
          <p:cNvPr id="11" name="Text 7"/>
          <p:cNvSpPr txBox="1"/>
          <p:nvPr/>
        </p:nvSpPr>
        <p:spPr>
          <a:xfrm>
            <a:off x="594360" y="4393463"/>
            <a:ext cx="5135728" cy="1037336"/>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Once a large enough cluster forms, each new member raises R, which raises the pull faster than R, which recruits more. This runaway cascade is the sudden jump.</a:t>
            </a:r>
            <a:endParaRPr lang="en-US" sz="1600" dirty="0"/>
          </a:p>
        </p:txBody>
      </p:sp>
      <p:sp>
        <p:nvSpPr>
          <p:cNvPr id="12" name="Text 8"/>
          <p:cNvSpPr txBox="1"/>
          <p:nvPr/>
        </p:nvSpPr>
        <p:spPr>
          <a:xfrm>
            <a:off x="594360" y="5503951"/>
            <a:ext cx="5135728" cy="789432"/>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The cluster can form when herding rises far enough, when a shock pushes a group together, or when noise does so by chance.</a:t>
            </a:r>
            <a:endParaRPr lang="en-US" sz="1600" dirty="0"/>
          </a:p>
        </p:txBody>
      </p:sp>
      <p:sp>
        <p:nvSpPr>
          <p:cNvPr id="13" name="Shape 9"/>
          <p:cNvSpPr/>
          <p:nvPr/>
        </p:nvSpPr>
        <p:spPr>
          <a:xfrm>
            <a:off x="6461608" y="1974875"/>
            <a:ext cx="5135728" cy="0"/>
          </a:xfrm>
          <a:prstGeom prst="line">
            <a:avLst/>
          </a:prstGeom>
          <a:noFill/>
          <a:ln w="12700">
            <a:solidFill>
              <a:srgbClr val="4D4D4D"/>
            </a:solidFill>
            <a:prstDash val="solid"/>
          </a:ln>
        </p:spPr>
      </p:sp>
      <p:sp>
        <p:nvSpPr>
          <p:cNvPr id="14" name="Text 10"/>
          <p:cNvSpPr txBox="1"/>
          <p:nvPr/>
        </p:nvSpPr>
        <p:spPr>
          <a:xfrm>
            <a:off x="6461608" y="2084603"/>
            <a:ext cx="5135728" cy="262636"/>
          </a:xfrm>
          <a:prstGeom prst="rect">
            <a:avLst/>
          </a:prstGeom>
          <a:noFill/>
          <a:ln/>
        </p:spPr>
        <p:txBody>
          <a:bodyPr wrap="square" lIns="0" tIns="0" rIns="0" bIns="0" rtlCol="0" anchor="t"/>
          <a:lstStyle/>
          <a:p>
            <a:pPr indent="0" marL="0">
              <a:lnSpc>
                <a:spcPct val="105000"/>
              </a:lnSpc>
              <a:buNone/>
            </a:pPr>
            <a:r>
              <a:rPr lang="en-US" sz="1400" b="1" spc="200" kern="0" dirty="0">
                <a:solidFill>
                  <a:srgbClr val="BFBFBF"/>
                </a:solidFill>
                <a:latin typeface="Calibri" pitchFamily="34" charset="0"/>
                <a:ea typeface="Calibri" pitchFamily="34" charset="-122"/>
                <a:cs typeface="Calibri" pitchFamily="34" charset="-120"/>
              </a:rPr>
              <a:t>IN THE MARKET</a:t>
            </a:r>
            <a:endParaRPr lang="en-US" sz="1400" dirty="0"/>
          </a:p>
        </p:txBody>
      </p:sp>
      <p:sp>
        <p:nvSpPr>
          <p:cNvPr id="15" name="Text 11"/>
          <p:cNvSpPr txBox="1"/>
          <p:nvPr/>
        </p:nvSpPr>
        <p:spPr>
          <a:xfrm>
            <a:off x="6461608" y="2420391"/>
            <a:ext cx="5135728" cy="541528"/>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In a calm market traders buy and sell at different times, their orders cancel, and Q ≈ 0.</a:t>
            </a:r>
            <a:endParaRPr lang="en-US" sz="1600" dirty="0"/>
          </a:p>
        </p:txBody>
      </p:sp>
      <p:sp>
        <p:nvSpPr>
          <p:cNvPr id="16" name="Text 12"/>
          <p:cNvSpPr txBox="1"/>
          <p:nvPr/>
        </p:nvSpPr>
        <p:spPr>
          <a:xfrm>
            <a:off x="6461608" y="3035071"/>
            <a:ext cx="5135728" cy="541528"/>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Herding means copying more when others agree. While opinions are split, copying stays weak.</a:t>
            </a:r>
            <a:endParaRPr lang="en-US" sz="1600" dirty="0"/>
          </a:p>
        </p:txBody>
      </p:sp>
      <p:sp>
        <p:nvSpPr>
          <p:cNvPr id="17" name="Text 13"/>
          <p:cNvSpPr txBox="1"/>
          <p:nvPr/>
        </p:nvSpPr>
        <p:spPr>
          <a:xfrm>
            <a:off x="6461608" y="3649751"/>
            <a:ext cx="5135728" cy="1037336"/>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News or rising herding brings a group of traders to sell together. Their agreement makes everyone copy them more, and selling spreads through the network.</a:t>
            </a:r>
            <a:endParaRPr lang="en-US" sz="1600" dirty="0"/>
          </a:p>
        </p:txBody>
      </p:sp>
      <p:sp>
        <p:nvSpPr>
          <p:cNvPr id="18" name="Text 14"/>
          <p:cNvSpPr txBox="1"/>
          <p:nvPr/>
        </p:nvSpPr>
        <p:spPr>
          <a:xfrm>
            <a:off x="6461608" y="4760239"/>
            <a:ext cx="5135728" cy="541528"/>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Q falls towards −1 and the price falls by up to about 18%. That is the crash.</a:t>
            </a:r>
            <a:endParaRPr lang="en-US" sz="1600" dirty="0"/>
          </a:p>
        </p:txBody>
      </p:sp>
      <p:sp>
        <p:nvSpPr>
          <p:cNvPr id="19" name="Text 15"/>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The 18% follows from the price equation: 1 − e^(−0.2) ≈ 0.18 when every trader sells.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Crash A: a flash crash that heal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b="1" dirty="0">
                <a:solidFill>
                  <a:srgbClr val="FFFFFF"/>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Crash A: a flash crash that heals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21</a:t>
            </a:r>
            <a:endParaRPr lang="en-US" sz="1200" dirty="0"/>
          </a:p>
        </p:txBody>
      </p:sp>
      <p:sp>
        <p:nvSpPr>
          <p:cNvPr id="6" name="Text 3"/>
          <p:cNvSpPr txBox="1"/>
          <p:nvPr/>
        </p:nvSpPr>
        <p:spPr>
          <a:xfrm>
            <a:off x="594360" y="1371600"/>
            <a:ext cx="5501488" cy="278130"/>
          </a:xfrm>
          <a:prstGeom prst="rect">
            <a:avLst/>
          </a:prstGeom>
          <a:noFill/>
          <a:ln/>
        </p:spPr>
        <p:txBody>
          <a:bodyPr wrap="square" lIns="0" tIns="0" rIns="0" bIns="0" rtlCol="0" anchor="t"/>
          <a:lstStyle/>
          <a:p>
            <a:pPr indent="0" marL="0">
              <a:lnSpc>
                <a:spcPct val="105000"/>
              </a:lnSpc>
              <a:buNone/>
            </a:pPr>
            <a:r>
              <a:rPr lang="en-US" sz="1500" b="1" dirty="0">
                <a:solidFill>
                  <a:srgbClr val="BFBFBF"/>
                </a:solidFill>
                <a:latin typeface="Calibri" pitchFamily="34" charset="0"/>
                <a:ea typeface="Calibri" pitchFamily="34" charset="-122"/>
                <a:cs typeface="Calibri" pitchFamily="34" charset="-120"/>
              </a:rPr>
              <a:t>Synchrony R (blue) and order flow Q (orange)</a:t>
            </a:r>
            <a:endParaRPr lang="en-US" sz="1500" dirty="0"/>
          </a:p>
        </p:txBody>
      </p:sp>
      <p:sp>
        <p:nvSpPr>
          <p:cNvPr id="7" name="Text 4"/>
          <p:cNvSpPr txBox="1"/>
          <p:nvPr/>
        </p:nvSpPr>
        <p:spPr>
          <a:xfrm>
            <a:off x="6187288" y="1371600"/>
            <a:ext cx="5501488" cy="278130"/>
          </a:xfrm>
          <a:prstGeom prst="rect">
            <a:avLst/>
          </a:prstGeom>
          <a:noFill/>
          <a:ln/>
        </p:spPr>
        <p:txBody>
          <a:bodyPr wrap="square" lIns="0" tIns="0" rIns="0" bIns="0" rtlCol="0" anchor="t"/>
          <a:lstStyle/>
          <a:p>
            <a:pPr indent="0" marL="0">
              <a:lnSpc>
                <a:spcPct val="105000"/>
              </a:lnSpc>
              <a:buNone/>
            </a:pPr>
            <a:r>
              <a:rPr lang="en-US" sz="1500" b="1" dirty="0">
                <a:solidFill>
                  <a:srgbClr val="BFBFBF"/>
                </a:solidFill>
                <a:latin typeface="Calibri" pitchFamily="34" charset="0"/>
                <a:ea typeface="Calibri" pitchFamily="34" charset="-122"/>
                <a:cs typeface="Calibri" pitchFamily="34" charset="-120"/>
              </a:rPr>
              <a:t>Market price (dashed line: fundamental value 100)</a:t>
            </a:r>
            <a:endParaRPr lang="en-US" sz="1500" dirty="0"/>
          </a:p>
        </p:txBody>
      </p:sp>
      <p:pic>
        <p:nvPicPr>
          <p:cNvPr id="8" name="Image 0" descr="Crash A: a flash crash that heals">    </p:cNvPr>
          <p:cNvPicPr>
            <a:picLocks noChangeAspect="1"/>
          </p:cNvPicPr>
          <p:nvPr/>
        </p:nvPicPr>
        <p:blipFill>
          <a:blip r:embed="rId1"/>
          <a:stretch>
            <a:fillRect/>
          </a:stretch>
        </p:blipFill>
        <p:spPr>
          <a:xfrm>
            <a:off x="594360" y="1691640"/>
            <a:ext cx="11002975" cy="2211810"/>
          </a:xfrm>
          <a:prstGeom prst="rect">
            <a:avLst/>
          </a:prstGeom>
        </p:spPr>
      </p:pic>
      <p:sp>
        <p:nvSpPr>
          <p:cNvPr id="9" name="Text 5"/>
          <p:cNvSpPr txBox="1"/>
          <p:nvPr/>
        </p:nvSpPr>
        <p:spPr>
          <a:xfrm>
            <a:off x="594360" y="4177770"/>
            <a:ext cx="5272888"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Herding is low (λ = 2.61). A sell shock of strength ε = 1.2 hits for 8 time units.</a:t>
            </a:r>
            <a:endParaRPr lang="en-US" sz="1800" dirty="0"/>
          </a:p>
        </p:txBody>
      </p:sp>
      <p:sp>
        <p:nvSpPr>
          <p:cNvPr id="10" name="Text 6"/>
          <p:cNvSpPr txBox="1"/>
          <p:nvPr/>
        </p:nvSpPr>
        <p:spPr>
          <a:xfrm>
            <a:off x="594360" y="4891002"/>
            <a:ext cx="5272888"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R jumps to almost 1 and Q to almost −1: for a moment, everyone sells.</a:t>
            </a:r>
            <a:endParaRPr lang="en-US" sz="1800" dirty="0"/>
          </a:p>
        </p:txBody>
      </p:sp>
      <p:sp>
        <p:nvSpPr>
          <p:cNvPr id="11" name="Text 7"/>
          <p:cNvSpPr txBox="1"/>
          <p:nvPr/>
        </p:nvSpPr>
        <p:spPr>
          <a:xfrm>
            <a:off x="6324448" y="4177770"/>
            <a:ext cx="5272888" cy="324612"/>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price falls 7.6%.</a:t>
            </a:r>
            <a:endParaRPr lang="en-US" sz="1800" dirty="0"/>
          </a:p>
        </p:txBody>
      </p:sp>
      <p:sp>
        <p:nvSpPr>
          <p:cNvPr id="12" name="Text 8"/>
          <p:cNvSpPr txBox="1"/>
          <p:nvPr/>
        </p:nvSpPr>
        <p:spPr>
          <a:xfrm>
            <a:off x="6324448" y="4612110"/>
            <a:ext cx="527288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When the shock ends, herding is too weak to hold the herd together. Q returns to 0 and the price recovers.</a:t>
            </a:r>
            <a:endParaRPr lang="en-US" sz="1800" dirty="0"/>
          </a:p>
        </p:txBody>
      </p:sp>
      <p:sp>
        <p:nvSpPr>
          <p:cNvPr id="13" name="Text 9"/>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research/s3_crash_anatomy.py. 500 traders, average degree 12, noise σ = 0.3, β = 0.01, κ = 0.05, one shared noise realisation.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Crash B: the same shock, but the crash last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b="1" dirty="0">
                <a:solidFill>
                  <a:srgbClr val="FFFFFF"/>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Crash B: the same shock, but the crash lasts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22</a:t>
            </a:r>
            <a:endParaRPr lang="en-US" sz="1200" dirty="0"/>
          </a:p>
        </p:txBody>
      </p:sp>
      <p:sp>
        <p:nvSpPr>
          <p:cNvPr id="6" name="Text 3"/>
          <p:cNvSpPr txBox="1"/>
          <p:nvPr/>
        </p:nvSpPr>
        <p:spPr>
          <a:xfrm>
            <a:off x="594360" y="1371600"/>
            <a:ext cx="5501488" cy="278130"/>
          </a:xfrm>
          <a:prstGeom prst="rect">
            <a:avLst/>
          </a:prstGeom>
          <a:noFill/>
          <a:ln/>
        </p:spPr>
        <p:txBody>
          <a:bodyPr wrap="square" lIns="0" tIns="0" rIns="0" bIns="0" rtlCol="0" anchor="t"/>
          <a:lstStyle/>
          <a:p>
            <a:pPr indent="0" marL="0">
              <a:lnSpc>
                <a:spcPct val="105000"/>
              </a:lnSpc>
              <a:buNone/>
            </a:pPr>
            <a:r>
              <a:rPr lang="en-US" sz="1500" b="1" dirty="0">
                <a:solidFill>
                  <a:srgbClr val="BFBFBF"/>
                </a:solidFill>
                <a:latin typeface="Calibri" pitchFamily="34" charset="0"/>
                <a:ea typeface="Calibri" pitchFamily="34" charset="-122"/>
                <a:cs typeface="Calibri" pitchFamily="34" charset="-120"/>
              </a:rPr>
              <a:t>Synchrony R (blue) and order flow Q (orange)</a:t>
            </a:r>
            <a:endParaRPr lang="en-US" sz="1500" dirty="0"/>
          </a:p>
        </p:txBody>
      </p:sp>
      <p:sp>
        <p:nvSpPr>
          <p:cNvPr id="7" name="Text 4"/>
          <p:cNvSpPr txBox="1"/>
          <p:nvPr/>
        </p:nvSpPr>
        <p:spPr>
          <a:xfrm>
            <a:off x="6187288" y="1371600"/>
            <a:ext cx="5501488" cy="278130"/>
          </a:xfrm>
          <a:prstGeom prst="rect">
            <a:avLst/>
          </a:prstGeom>
          <a:noFill/>
          <a:ln/>
        </p:spPr>
        <p:txBody>
          <a:bodyPr wrap="square" lIns="0" tIns="0" rIns="0" bIns="0" rtlCol="0" anchor="t"/>
          <a:lstStyle/>
          <a:p>
            <a:pPr indent="0" marL="0">
              <a:lnSpc>
                <a:spcPct val="105000"/>
              </a:lnSpc>
              <a:buNone/>
            </a:pPr>
            <a:r>
              <a:rPr lang="en-US" sz="1500" b="1" dirty="0">
                <a:solidFill>
                  <a:srgbClr val="BFBFBF"/>
                </a:solidFill>
                <a:latin typeface="Calibri" pitchFamily="34" charset="0"/>
                <a:ea typeface="Calibri" pitchFamily="34" charset="-122"/>
                <a:cs typeface="Calibri" pitchFamily="34" charset="-120"/>
              </a:rPr>
              <a:t>Market price (dashed line: fundamental value 100)</a:t>
            </a:r>
            <a:endParaRPr lang="en-US" sz="1500" dirty="0"/>
          </a:p>
        </p:txBody>
      </p:sp>
      <p:pic>
        <p:nvPicPr>
          <p:cNvPr id="8" name="Image 0" descr="Crash B: the same shock, but the crash lasts">    </p:cNvPr>
          <p:cNvPicPr>
            <a:picLocks noChangeAspect="1"/>
          </p:cNvPicPr>
          <p:nvPr/>
        </p:nvPicPr>
        <p:blipFill>
          <a:blip r:embed="rId1"/>
          <a:stretch>
            <a:fillRect/>
          </a:stretch>
        </p:blipFill>
        <p:spPr>
          <a:xfrm>
            <a:off x="594360" y="1691640"/>
            <a:ext cx="11002975" cy="2373060"/>
          </a:xfrm>
          <a:prstGeom prst="rect">
            <a:avLst/>
          </a:prstGeom>
        </p:spPr>
      </p:pic>
      <p:sp>
        <p:nvSpPr>
          <p:cNvPr id="9" name="Text 5"/>
          <p:cNvSpPr txBox="1"/>
          <p:nvPr/>
        </p:nvSpPr>
        <p:spPr>
          <a:xfrm>
            <a:off x="594360" y="4339020"/>
            <a:ext cx="5272888"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same market, traders, noise and shock, but herding is higher (λ = 3.47).</a:t>
            </a:r>
            <a:endParaRPr lang="en-US" sz="1800" dirty="0"/>
          </a:p>
        </p:txBody>
      </p:sp>
      <p:sp>
        <p:nvSpPr>
          <p:cNvPr id="10" name="Text 6"/>
          <p:cNvSpPr txBox="1"/>
          <p:nvPr/>
        </p:nvSpPr>
        <p:spPr>
          <a:xfrm>
            <a:off x="594360" y="5052252"/>
            <a:ext cx="5272888"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After the shock the herd holds itself together: R stays near 0.85 and Q near −0.7.</a:t>
            </a:r>
            <a:endParaRPr lang="en-US" sz="1800" dirty="0"/>
          </a:p>
        </p:txBody>
      </p:sp>
      <p:sp>
        <p:nvSpPr>
          <p:cNvPr id="11" name="Text 7"/>
          <p:cNvSpPr txBox="1"/>
          <p:nvPr/>
        </p:nvSpPr>
        <p:spPr>
          <a:xfrm>
            <a:off x="6324448" y="4339020"/>
            <a:ext cx="5272888"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price falls 16.2% and stays near 87, as the price equation predicts for Q ≈ −0.7.</a:t>
            </a:r>
            <a:endParaRPr lang="en-US" sz="1800" dirty="0"/>
          </a:p>
        </p:txBody>
      </p:sp>
      <p:sp>
        <p:nvSpPr>
          <p:cNvPr id="12" name="Text 8"/>
          <p:cNvSpPr txBox="1"/>
          <p:nvPr/>
        </p:nvSpPr>
        <p:spPr>
          <a:xfrm>
            <a:off x="6324448" y="5052252"/>
            <a:ext cx="527288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same trigger gives a short dip or a lasting crash, depending only on how strongly traders herd.</a:t>
            </a:r>
            <a:endParaRPr lang="en-US" sz="1800" dirty="0"/>
          </a:p>
        </p:txBody>
      </p:sp>
      <p:sp>
        <p:nvSpPr>
          <p:cNvPr id="13" name="Text 9"/>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research/s3_crash_anatomy.py. 500 traders, average degree 12, noise σ = 0.3, β = 0.01, κ = 0.05, one shared noise realisation.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Crash C: a crash with no shock at all">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b="1" dirty="0">
                <a:solidFill>
                  <a:srgbClr val="FFFFFF"/>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Crash C: a crash with no shock at all</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23</a:t>
            </a:r>
            <a:endParaRPr lang="en-US" sz="1200" dirty="0"/>
          </a:p>
        </p:txBody>
      </p:sp>
      <p:sp>
        <p:nvSpPr>
          <p:cNvPr id="6" name="Text 3"/>
          <p:cNvSpPr txBox="1"/>
          <p:nvPr/>
        </p:nvSpPr>
        <p:spPr>
          <a:xfrm>
            <a:off x="594360" y="1371600"/>
            <a:ext cx="5501488" cy="278130"/>
          </a:xfrm>
          <a:prstGeom prst="rect">
            <a:avLst/>
          </a:prstGeom>
          <a:noFill/>
          <a:ln/>
        </p:spPr>
        <p:txBody>
          <a:bodyPr wrap="square" lIns="0" tIns="0" rIns="0" bIns="0" rtlCol="0" anchor="t"/>
          <a:lstStyle/>
          <a:p>
            <a:pPr indent="0" marL="0">
              <a:lnSpc>
                <a:spcPct val="105000"/>
              </a:lnSpc>
              <a:buNone/>
            </a:pPr>
            <a:r>
              <a:rPr lang="en-US" sz="1500" b="1" dirty="0">
                <a:solidFill>
                  <a:srgbClr val="BFBFBF"/>
                </a:solidFill>
                <a:latin typeface="Calibri" pitchFamily="34" charset="0"/>
                <a:ea typeface="Calibri" pitchFamily="34" charset="-122"/>
                <a:cs typeface="Calibri" pitchFamily="34" charset="-120"/>
              </a:rPr>
              <a:t>Synchrony R (blue) and order flow Q (orange)</a:t>
            </a:r>
            <a:endParaRPr lang="en-US" sz="1500" dirty="0"/>
          </a:p>
        </p:txBody>
      </p:sp>
      <p:sp>
        <p:nvSpPr>
          <p:cNvPr id="7" name="Text 4"/>
          <p:cNvSpPr txBox="1"/>
          <p:nvPr/>
        </p:nvSpPr>
        <p:spPr>
          <a:xfrm>
            <a:off x="6187288" y="1371600"/>
            <a:ext cx="5501488" cy="278130"/>
          </a:xfrm>
          <a:prstGeom prst="rect">
            <a:avLst/>
          </a:prstGeom>
          <a:noFill/>
          <a:ln/>
        </p:spPr>
        <p:txBody>
          <a:bodyPr wrap="square" lIns="0" tIns="0" rIns="0" bIns="0" rtlCol="0" anchor="t"/>
          <a:lstStyle/>
          <a:p>
            <a:pPr indent="0" marL="0">
              <a:lnSpc>
                <a:spcPct val="105000"/>
              </a:lnSpc>
              <a:buNone/>
            </a:pPr>
            <a:r>
              <a:rPr lang="en-US" sz="1500" b="1" dirty="0">
                <a:solidFill>
                  <a:srgbClr val="BFBFBF"/>
                </a:solidFill>
                <a:latin typeface="Calibri" pitchFamily="34" charset="0"/>
                <a:ea typeface="Calibri" pitchFamily="34" charset="-122"/>
                <a:cs typeface="Calibri" pitchFamily="34" charset="-120"/>
              </a:rPr>
              <a:t>Market price (dashed line: fundamental value 100)</a:t>
            </a:r>
            <a:endParaRPr lang="en-US" sz="1500" dirty="0"/>
          </a:p>
        </p:txBody>
      </p:sp>
      <p:pic>
        <p:nvPicPr>
          <p:cNvPr id="8" name="Image 0" descr="Crash C: a crash with no shock at all">    </p:cNvPr>
          <p:cNvPicPr>
            <a:picLocks noChangeAspect="1"/>
          </p:cNvPicPr>
          <p:nvPr/>
        </p:nvPicPr>
        <p:blipFill>
          <a:blip r:embed="rId1"/>
          <a:stretch>
            <a:fillRect/>
          </a:stretch>
        </p:blipFill>
        <p:spPr>
          <a:xfrm>
            <a:off x="594360" y="1691640"/>
            <a:ext cx="11002975" cy="2355884"/>
          </a:xfrm>
          <a:prstGeom prst="rect">
            <a:avLst/>
          </a:prstGeom>
        </p:spPr>
      </p:pic>
      <p:sp>
        <p:nvSpPr>
          <p:cNvPr id="9" name="Text 5"/>
          <p:cNvSpPr txBox="1"/>
          <p:nvPr/>
        </p:nvSpPr>
        <p:spPr>
          <a:xfrm>
            <a:off x="594360" y="4321844"/>
            <a:ext cx="5272888"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There is no shock. Herding rises slowly, from about 1.7 to 4.8.</a:t>
            </a:r>
            <a:endParaRPr lang="en-US" sz="1800" dirty="0"/>
          </a:p>
        </p:txBody>
      </p:sp>
      <p:sp>
        <p:nvSpPr>
          <p:cNvPr id="10" name="Text 6"/>
          <p:cNvSpPr txBox="1"/>
          <p:nvPr/>
        </p:nvSpPr>
        <p:spPr>
          <a:xfrm>
            <a:off x="594360" y="5035076"/>
            <a:ext cx="5272888" cy="603504"/>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For a long time the market looks calm, but R flickers as small groups briefly line up.</a:t>
            </a:r>
            <a:endParaRPr lang="en-US" sz="1800" dirty="0"/>
          </a:p>
        </p:txBody>
      </p:sp>
      <p:sp>
        <p:nvSpPr>
          <p:cNvPr id="11" name="Text 7"/>
          <p:cNvSpPr txBox="1"/>
          <p:nvPr/>
        </p:nvSpPr>
        <p:spPr>
          <a:xfrm>
            <a:off x="6324448" y="4321844"/>
            <a:ext cx="527288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Once herding is high enough the cascade runs away: R jumps to almost 1 and Q to almost −1.</a:t>
            </a:r>
            <a:endParaRPr lang="en-US" sz="1800" dirty="0"/>
          </a:p>
        </p:txBody>
      </p:sp>
      <p:sp>
        <p:nvSpPr>
          <p:cNvPr id="12" name="Text 8"/>
          <p:cNvSpPr txBox="1"/>
          <p:nvPr/>
        </p:nvSpPr>
        <p:spPr>
          <a:xfrm>
            <a:off x="6324448" y="5313968"/>
            <a:ext cx="5272888" cy="882396"/>
          </a:xfrm>
          <a:prstGeom prst="rect">
            <a:avLst/>
          </a:prstGeom>
          <a:noFill/>
          <a:ln/>
        </p:spPr>
        <p:txBody>
          <a:bodyPr wrap="square" lIns="0" tIns="0" rIns="0" bIns="0" rtlCol="0" anchor="t"/>
          <a:lstStyle/>
          <a:p>
            <a:pPr indent="0" marL="0">
              <a:lnSpc>
                <a:spcPct val="105000"/>
              </a:lnSpc>
              <a:buNone/>
            </a:pPr>
            <a:r>
              <a:rPr lang="en-US" sz="1800" dirty="0">
                <a:solidFill>
                  <a:srgbClr val="FFFFFF"/>
                </a:solidFill>
                <a:latin typeface="Calibri" pitchFamily="34" charset="0"/>
                <a:ea typeface="Calibri" pitchFamily="34" charset="-122"/>
                <a:cs typeface="Calibri" pitchFamily="34" charset="-120"/>
              </a:rPr>
              <a:t>The price falls 19.2% and ends near 83. The crash is caused by rising herding and noise alone.</a:t>
            </a:r>
            <a:endParaRPr lang="en-US" sz="1800" dirty="0"/>
          </a:p>
        </p:txBody>
      </p:sp>
      <p:sp>
        <p:nvSpPr>
          <p:cNvPr id="13" name="Text 9"/>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research/s3_crash_anatomy.py. 500 traders, average degree 12, noise σ = 0.3, β = 0.01, κ = 0.05, one shared noise realisation.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From synchrony back to disorder: how a crash end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320040"/>
            <a:ext cx="7315200" cy="274320"/>
          </a:xfrm>
          <a:prstGeom prst="rect">
            <a:avLst/>
          </a:prstGeom>
          <a:noFill/>
          <a:ln/>
        </p:spPr>
        <p:txBody>
          <a:bodyPr wrap="square" lIns="0" tIns="0" rIns="0" bIns="0" rtlCol="0" anchor="ctr"/>
          <a:lstStyle/>
          <a:p>
            <a:pPr indent="0" marL="0">
              <a:buNone/>
            </a:pPr>
            <a:r>
              <a:rPr lang="en-US" sz="1400" dirty="0">
                <a:solidFill>
                  <a:srgbClr val="7A7A7A"/>
                </a:solidFill>
                <a:latin typeface="Calibri" pitchFamily="34" charset="0"/>
                <a:ea typeface="Calibri" pitchFamily="34" charset="-122"/>
                <a:cs typeface="Calibri" pitchFamily="34" charset="-120"/>
              </a:rPr>
              <a:t>Motivation      </a:t>
            </a:r>
            <a:pPr indent="0" marL="0">
              <a:buNone/>
            </a:pPr>
            <a:r>
              <a:rPr lang="en-US" sz="1400" dirty="0">
                <a:solidFill>
                  <a:srgbClr val="7A7A7A"/>
                </a:solidFill>
                <a:latin typeface="Calibri" pitchFamily="34" charset="0"/>
                <a:ea typeface="Calibri" pitchFamily="34" charset="-122"/>
                <a:cs typeface="Calibri" pitchFamily="34" charset="-120"/>
              </a:rPr>
              <a:t>Background      </a:t>
            </a:r>
            <a:pPr indent="0" marL="0">
              <a:buNone/>
            </a:pPr>
            <a:r>
              <a:rPr lang="en-US" sz="1400" dirty="0">
                <a:solidFill>
                  <a:srgbClr val="7A7A7A"/>
                </a:solidFill>
                <a:latin typeface="Calibri" pitchFamily="34" charset="0"/>
                <a:ea typeface="Calibri" pitchFamily="34" charset="-122"/>
                <a:cs typeface="Calibri" pitchFamily="34" charset="-120"/>
              </a:rPr>
              <a:t>Literature      </a:t>
            </a:r>
            <a:pPr indent="0" marL="0">
              <a:buNone/>
            </a:pPr>
            <a:r>
              <a:rPr lang="en-US" sz="1400" dirty="0">
                <a:solidFill>
                  <a:srgbClr val="7A7A7A"/>
                </a:solidFill>
                <a:latin typeface="Calibri" pitchFamily="34" charset="0"/>
                <a:ea typeface="Calibri" pitchFamily="34" charset="-122"/>
                <a:cs typeface="Calibri" pitchFamily="34" charset="-120"/>
              </a:rPr>
              <a:t>Market model      </a:t>
            </a:r>
            <a:pPr indent="0" marL="0">
              <a:buNone/>
            </a:pPr>
            <a:r>
              <a:rPr lang="en-US" sz="1400" b="1" dirty="0">
                <a:solidFill>
                  <a:srgbClr val="FFFFFF"/>
                </a:solidFill>
                <a:latin typeface="Calibri" pitchFamily="34" charset="0"/>
                <a:ea typeface="Calibri" pitchFamily="34" charset="-122"/>
                <a:cs typeface="Calibri" pitchFamily="34" charset="-120"/>
              </a:rPr>
              <a:t>Crash and recovery</a:t>
            </a:r>
            <a:endParaRPr lang="en-US" sz="1400" dirty="0"/>
          </a:p>
        </p:txBody>
      </p:sp>
      <p:sp>
        <p:nvSpPr>
          <p:cNvPr id="3" name="Text 1"/>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From synchrony back to disorder: how a crash ends</a:t>
            </a:r>
            <a:endParaRPr lang="en-US" sz="3200" dirty="0"/>
          </a:p>
        </p:txBody>
      </p:sp>
      <p:sp>
        <p:nvSpPr>
          <p:cNvPr id="4" name="Text 2"/>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24</a:t>
            </a:r>
            <a:endParaRPr lang="en-US" sz="1200" dirty="0"/>
          </a:p>
        </p:txBody>
      </p:sp>
      <p:pic>
        <p:nvPicPr>
          <p:cNvPr id="6" name="Image 0" descr="Equation m_unlock">    </p:cNvPr>
          <p:cNvPicPr>
            <a:picLocks noChangeAspect="1"/>
          </p:cNvPicPr>
          <p:nvPr/>
        </p:nvPicPr>
        <p:blipFill>
          <a:blip r:embed="rId1"/>
          <a:stretch>
            <a:fillRect/>
          </a:stretch>
        </p:blipFill>
        <p:spPr>
          <a:xfrm>
            <a:off x="594360" y="1417320"/>
            <a:ext cx="1586713" cy="389763"/>
          </a:xfrm>
          <a:prstGeom prst="rect">
            <a:avLst/>
          </a:prstGeom>
        </p:spPr>
      </p:pic>
      <p:pic>
        <p:nvPicPr>
          <p:cNvPr id="7" name="Image 1" descr="Equation m_decay">    </p:cNvPr>
          <p:cNvPicPr>
            <a:picLocks noChangeAspect="1"/>
          </p:cNvPicPr>
          <p:nvPr/>
        </p:nvPicPr>
        <p:blipFill>
          <a:blip r:embed="rId2"/>
          <a:stretch>
            <a:fillRect/>
          </a:stretch>
        </p:blipFill>
        <p:spPr>
          <a:xfrm>
            <a:off x="3278353" y="1417320"/>
            <a:ext cx="2479396" cy="424967"/>
          </a:xfrm>
          <a:prstGeom prst="rect">
            <a:avLst/>
          </a:prstGeom>
        </p:spPr>
      </p:pic>
      <p:sp>
        <p:nvSpPr>
          <p:cNvPr id="8" name="Shape 3"/>
          <p:cNvSpPr/>
          <p:nvPr/>
        </p:nvSpPr>
        <p:spPr>
          <a:xfrm>
            <a:off x="594360" y="2103120"/>
            <a:ext cx="5135728" cy="0"/>
          </a:xfrm>
          <a:prstGeom prst="line">
            <a:avLst/>
          </a:prstGeom>
          <a:noFill/>
          <a:ln w="12700">
            <a:solidFill>
              <a:srgbClr val="4D4D4D"/>
            </a:solidFill>
            <a:prstDash val="solid"/>
          </a:ln>
        </p:spPr>
      </p:sp>
      <p:sp>
        <p:nvSpPr>
          <p:cNvPr id="9" name="Text 4"/>
          <p:cNvSpPr txBox="1"/>
          <p:nvPr/>
        </p:nvSpPr>
        <p:spPr>
          <a:xfrm>
            <a:off x="594360" y="2212848"/>
            <a:ext cx="5135728" cy="262636"/>
          </a:xfrm>
          <a:prstGeom prst="rect">
            <a:avLst/>
          </a:prstGeom>
          <a:noFill/>
          <a:ln/>
        </p:spPr>
        <p:txBody>
          <a:bodyPr wrap="square" lIns="0" tIns="0" rIns="0" bIns="0" rtlCol="0" anchor="t"/>
          <a:lstStyle/>
          <a:p>
            <a:pPr indent="0" marL="0">
              <a:lnSpc>
                <a:spcPct val="105000"/>
              </a:lnSpc>
              <a:buNone/>
            </a:pPr>
            <a:r>
              <a:rPr lang="en-US" sz="1400" b="1" spc="200" kern="0" dirty="0">
                <a:solidFill>
                  <a:srgbClr val="BFBFBF"/>
                </a:solidFill>
                <a:latin typeface="Calibri" pitchFamily="34" charset="0"/>
                <a:ea typeface="Calibri" pitchFamily="34" charset="-122"/>
                <a:cs typeface="Calibri" pitchFamily="34" charset="-120"/>
              </a:rPr>
              <a:t>THE PHYSICS</a:t>
            </a:r>
            <a:endParaRPr lang="en-US" sz="1400" dirty="0"/>
          </a:p>
        </p:txBody>
      </p:sp>
      <p:sp>
        <p:nvSpPr>
          <p:cNvPr id="10" name="Text 5"/>
          <p:cNvSpPr txBox="1"/>
          <p:nvPr/>
        </p:nvSpPr>
        <p:spPr>
          <a:xfrm>
            <a:off x="594360" y="2548636"/>
            <a:ext cx="5135728" cy="789432"/>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An oscillator stays locked only while the group’s pull beats its own speed, as in the condition above.</a:t>
            </a:r>
            <a:endParaRPr lang="en-US" sz="1600" dirty="0"/>
          </a:p>
        </p:txBody>
      </p:sp>
      <p:sp>
        <p:nvSpPr>
          <p:cNvPr id="11" name="Text 6"/>
          <p:cNvSpPr txBox="1"/>
          <p:nvPr/>
        </p:nvSpPr>
        <p:spPr>
          <a:xfrm>
            <a:off x="594360" y="3411220"/>
            <a:ext cx="5135728" cy="1285240"/>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Because the adaptive pull grows faster than R, a strongly synchronized group holds itself together, even below the herding that created it. In my runs a crash formed at 3.9 but only ended below 3.0.</a:t>
            </a:r>
            <a:endParaRPr lang="en-US" sz="1600" dirty="0"/>
          </a:p>
        </p:txBody>
      </p:sp>
      <p:sp>
        <p:nvSpPr>
          <p:cNvPr id="12" name="Text 7"/>
          <p:cNvSpPr txBox="1"/>
          <p:nvPr/>
        </p:nvSpPr>
        <p:spPr>
          <a:xfrm>
            <a:off x="594360" y="4769612"/>
            <a:ext cx="5135728" cy="1285240"/>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When herding falls far enough, the fastest oscillators unlock first. R drops, the pull drops faster, more unlock, and synchrony collapses suddenly. With the coupling off, R decays as shown above right.</a:t>
            </a:r>
            <a:endParaRPr lang="en-US" sz="1600" dirty="0"/>
          </a:p>
        </p:txBody>
      </p:sp>
      <p:sp>
        <p:nvSpPr>
          <p:cNvPr id="13" name="Shape 8"/>
          <p:cNvSpPr/>
          <p:nvPr/>
        </p:nvSpPr>
        <p:spPr>
          <a:xfrm>
            <a:off x="6461608" y="2103120"/>
            <a:ext cx="5135728" cy="0"/>
          </a:xfrm>
          <a:prstGeom prst="line">
            <a:avLst/>
          </a:prstGeom>
          <a:noFill/>
          <a:ln w="12700">
            <a:solidFill>
              <a:srgbClr val="4D4D4D"/>
            </a:solidFill>
            <a:prstDash val="solid"/>
          </a:ln>
        </p:spPr>
      </p:sp>
      <p:sp>
        <p:nvSpPr>
          <p:cNvPr id="14" name="Text 9"/>
          <p:cNvSpPr txBox="1"/>
          <p:nvPr/>
        </p:nvSpPr>
        <p:spPr>
          <a:xfrm>
            <a:off x="6461608" y="2212848"/>
            <a:ext cx="5135728" cy="262636"/>
          </a:xfrm>
          <a:prstGeom prst="rect">
            <a:avLst/>
          </a:prstGeom>
          <a:noFill/>
          <a:ln/>
        </p:spPr>
        <p:txBody>
          <a:bodyPr wrap="square" lIns="0" tIns="0" rIns="0" bIns="0" rtlCol="0" anchor="t"/>
          <a:lstStyle/>
          <a:p>
            <a:pPr indent="0" marL="0">
              <a:lnSpc>
                <a:spcPct val="105000"/>
              </a:lnSpc>
              <a:buNone/>
            </a:pPr>
            <a:r>
              <a:rPr lang="en-US" sz="1400" b="1" spc="200" kern="0" dirty="0">
                <a:solidFill>
                  <a:srgbClr val="BFBFBF"/>
                </a:solidFill>
                <a:latin typeface="Calibri" pitchFamily="34" charset="0"/>
                <a:ea typeface="Calibri" pitchFamily="34" charset="-122"/>
                <a:cs typeface="Calibri" pitchFamily="34" charset="-120"/>
              </a:rPr>
              <a:t>IN THE MARKET</a:t>
            </a:r>
            <a:endParaRPr lang="en-US" sz="1400" dirty="0"/>
          </a:p>
        </p:txBody>
      </p:sp>
      <p:sp>
        <p:nvSpPr>
          <p:cNvPr id="15" name="Text 10"/>
          <p:cNvSpPr txBox="1"/>
          <p:nvPr/>
        </p:nvSpPr>
        <p:spPr>
          <a:xfrm>
            <a:off x="6461608" y="2548636"/>
            <a:ext cx="5135728" cy="541528"/>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A crash ends when the selling herd breaks up and buys and sells cancel again.</a:t>
            </a:r>
            <a:endParaRPr lang="en-US" sz="1600" dirty="0"/>
          </a:p>
        </p:txBody>
      </p:sp>
      <p:sp>
        <p:nvSpPr>
          <p:cNvPr id="16" name="Text 11"/>
          <p:cNvSpPr txBox="1"/>
          <p:nvPr/>
        </p:nvSpPr>
        <p:spPr>
          <a:xfrm>
            <a:off x="6461608" y="3163316"/>
            <a:ext cx="5135728" cy="789432"/>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Reducing herding a little is not enough. It must fall well below the level that started the crash.</a:t>
            </a:r>
            <a:endParaRPr lang="en-US" sz="1600" dirty="0"/>
          </a:p>
        </p:txBody>
      </p:sp>
      <p:sp>
        <p:nvSpPr>
          <p:cNvPr id="17" name="Text 12"/>
          <p:cNvSpPr txBox="1"/>
          <p:nvPr/>
        </p:nvSpPr>
        <p:spPr>
          <a:xfrm>
            <a:off x="6461608" y="4025900"/>
            <a:ext cx="5135728" cy="789432"/>
          </a:xfrm>
          <a:prstGeom prst="rect">
            <a:avLst/>
          </a:prstGeom>
          <a:noFill/>
          <a:ln/>
        </p:spPr>
        <p:txBody>
          <a:bodyPr wrap="square" lIns="0" tIns="0" rIns="0" bIns="0"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Traders with very different strategies unlock first, so a market with more diverse strategies recovers more easily.</a:t>
            </a:r>
            <a:endParaRPr lang="en-US" sz="1600" dirty="0"/>
          </a:p>
        </p:txBody>
      </p:sp>
      <p:sp>
        <p:nvSpPr>
          <p:cNvPr id="18" name="Text 13"/>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research/data/s2.log (random network, all nodes herding, no noise: jump up at 3.88, drop at 3.04).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What this means for financial networks">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594360" y="685800"/>
            <a:ext cx="11002975" cy="59436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What this means for financial networks</a:t>
            </a:r>
            <a:endParaRPr lang="en-US" sz="3200" dirty="0"/>
          </a:p>
        </p:txBody>
      </p:sp>
      <p:sp>
        <p:nvSpPr>
          <p:cNvPr id="3" name="Text 1"/>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25</a:t>
            </a:r>
            <a:endParaRPr lang="en-US" sz="1200" dirty="0"/>
          </a:p>
        </p:txBody>
      </p:sp>
      <p:sp>
        <p:nvSpPr>
          <p:cNvPr id="5" name="Text 2"/>
          <p:cNvSpPr txBox="1"/>
          <p:nvPr/>
        </p:nvSpPr>
        <p:spPr>
          <a:xfrm>
            <a:off x="594360" y="1417320"/>
            <a:ext cx="11002975" cy="603504"/>
          </a:xfrm>
          <a:prstGeom prst="rect">
            <a:avLst/>
          </a:prstGeom>
          <a:noFill/>
          <a:ln/>
        </p:spPr>
        <p:txBody>
          <a:bodyPr wrap="square" lIns="0" tIns="0" rIns="0" bIns="0" rtlCol="0" anchor="t"/>
          <a:lstStyle/>
          <a:p>
            <a:pPr indent="0" marL="0">
              <a:lnSpc>
                <a:spcPct val="105000"/>
              </a:lnSpc>
              <a:buNone/>
            </a:pPr>
            <a:r>
              <a:rPr lang="en-US" sz="1800" dirty="0">
                <a:solidFill>
                  <a:srgbClr val="D9D9D9"/>
                </a:solidFill>
                <a:latin typeface="Calibri" pitchFamily="34" charset="0"/>
                <a:ea typeface="Calibri" pitchFamily="34" charset="-122"/>
                <a:cs typeface="Calibri" pitchFamily="34" charset="-120"/>
              </a:rPr>
              <a:t>The trader picture is an abstraction, but within the model each result of the theory has a direct reading for a network of traders.</a:t>
            </a:r>
            <a:endParaRPr lang="en-US" sz="1800" dirty="0"/>
          </a:p>
        </p:txBody>
      </p:sp>
      <p:sp>
        <p:nvSpPr>
          <p:cNvPr id="6" name="Text 3"/>
          <p:cNvSpPr txBox="1"/>
          <p:nvPr/>
        </p:nvSpPr>
        <p:spPr>
          <a:xfrm>
            <a:off x="594360" y="2203704"/>
            <a:ext cx="237744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Mean-field pull</a:t>
            </a:r>
            <a:endParaRPr lang="en-US" sz="1700" dirty="0"/>
          </a:p>
        </p:txBody>
      </p:sp>
      <p:sp>
        <p:nvSpPr>
          <p:cNvPr id="7" name="Text 4"/>
          <p:cNvSpPr txBox="1"/>
          <p:nvPr/>
        </p:nvSpPr>
        <p:spPr>
          <a:xfrm>
            <a:off x="3154680" y="2203704"/>
            <a:ext cx="844265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Each trader responds to the overall market consensus, and the response is stronger when the consensus is stronger.</a:t>
            </a:r>
            <a:endParaRPr lang="en-US" sz="1700" dirty="0"/>
          </a:p>
        </p:txBody>
      </p:sp>
      <p:sp>
        <p:nvSpPr>
          <p:cNvPr id="8" name="Text 5"/>
          <p:cNvSpPr txBox="1"/>
          <p:nvPr/>
        </p:nvSpPr>
        <p:spPr>
          <a:xfrm>
            <a:off x="594360" y="2821940"/>
            <a:ext cx="237744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Threshold</a:t>
            </a:r>
            <a:endParaRPr lang="en-US" sz="1700" dirty="0"/>
          </a:p>
        </p:txBody>
      </p:sp>
      <p:sp>
        <p:nvSpPr>
          <p:cNvPr id="9" name="Text 6"/>
          <p:cNvSpPr txBox="1"/>
          <p:nvPr/>
        </p:nvSpPr>
        <p:spPr>
          <a:xfrm>
            <a:off x="3154680" y="2821940"/>
            <a:ext cx="844265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A consensus forms only when copying is strong compared with the diversity of strategies γ.</a:t>
            </a:r>
            <a:endParaRPr lang="en-US" sz="1700" dirty="0"/>
          </a:p>
        </p:txBody>
      </p:sp>
      <p:sp>
        <p:nvSpPr>
          <p:cNvPr id="10" name="Text 7"/>
          <p:cNvSpPr txBox="1"/>
          <p:nvPr/>
        </p:nvSpPr>
        <p:spPr>
          <a:xfrm>
            <a:off x="594360" y="3440176"/>
            <a:ext cx="237744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Herding</a:t>
            </a:r>
            <a:endParaRPr lang="en-US" sz="1700" dirty="0"/>
          </a:p>
        </p:txBody>
      </p:sp>
      <p:sp>
        <p:nvSpPr>
          <p:cNvPr id="11" name="Text 8"/>
          <p:cNvSpPr txBox="1"/>
          <p:nvPr/>
        </p:nvSpPr>
        <p:spPr>
          <a:xfrm>
            <a:off x="3154680" y="3440176"/>
            <a:ext cx="844265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With adaptive coupling, the market does not drift gradually towards one side. It switches suddenly from balanced trading to one-sided trading.</a:t>
            </a:r>
            <a:endParaRPr lang="en-US" sz="1700" dirty="0"/>
          </a:p>
        </p:txBody>
      </p:sp>
      <p:sp>
        <p:nvSpPr>
          <p:cNvPr id="12" name="Text 9"/>
          <p:cNvSpPr txBox="1"/>
          <p:nvPr/>
        </p:nvSpPr>
        <p:spPr>
          <a:xfrm>
            <a:off x="594360" y="4058412"/>
            <a:ext cx="237744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Shocks and noise</a:t>
            </a:r>
            <a:endParaRPr lang="en-US" sz="1700" dirty="0"/>
          </a:p>
        </p:txBody>
      </p:sp>
      <p:sp>
        <p:nvSpPr>
          <p:cNvPr id="13" name="Text 10"/>
          <p:cNvSpPr txBox="1"/>
          <p:nvPr/>
        </p:nvSpPr>
        <p:spPr>
          <a:xfrm>
            <a:off x="3154680" y="4058412"/>
            <a:ext cx="844265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News reaching 10 to 15% of traders, or random news alone when herding is high, can be enough to start a crash.</a:t>
            </a:r>
            <a:endParaRPr lang="en-US" sz="1700" dirty="0"/>
          </a:p>
        </p:txBody>
      </p:sp>
      <p:sp>
        <p:nvSpPr>
          <p:cNvPr id="14" name="Text 11"/>
          <p:cNvSpPr txBox="1"/>
          <p:nvPr/>
        </p:nvSpPr>
        <p:spPr>
          <a:xfrm>
            <a:off x="594360" y="4676648"/>
            <a:ext cx="2377440" cy="309118"/>
          </a:xfrm>
          <a:prstGeom prst="rect">
            <a:avLst/>
          </a:prstGeom>
          <a:noFill/>
          <a:ln/>
        </p:spPr>
        <p:txBody>
          <a:bodyPr wrap="square" lIns="0" tIns="0" rIns="0" bIns="0" rtlCol="0" anchor="t"/>
          <a:lstStyle/>
          <a:p>
            <a:pPr indent="0" marL="0">
              <a:lnSpc>
                <a:spcPct val="105000"/>
              </a:lnSpc>
              <a:buNone/>
            </a:pPr>
            <a:r>
              <a:rPr lang="en-US" sz="1700" b="1" dirty="0">
                <a:solidFill>
                  <a:srgbClr val="FFFFFF"/>
                </a:solidFill>
                <a:latin typeface="Calibri" pitchFamily="34" charset="0"/>
                <a:ea typeface="Calibri" pitchFamily="34" charset="-122"/>
                <a:cs typeface="Calibri" pitchFamily="34" charset="-120"/>
              </a:rPr>
              <a:t>Recovery</a:t>
            </a:r>
            <a:endParaRPr lang="en-US" sz="1700" dirty="0"/>
          </a:p>
        </p:txBody>
      </p:sp>
      <p:sp>
        <p:nvSpPr>
          <p:cNvPr id="15" name="Text 12"/>
          <p:cNvSpPr txBox="1"/>
          <p:nvPr/>
        </p:nvSpPr>
        <p:spPr>
          <a:xfrm>
            <a:off x="3154680" y="4676648"/>
            <a:ext cx="8442655" cy="572516"/>
          </a:xfrm>
          <a:prstGeom prst="rect">
            <a:avLst/>
          </a:prstGeom>
          <a:noFill/>
          <a:ln/>
        </p:spPr>
        <p:txBody>
          <a:bodyPr wrap="square" lIns="0" tIns="0" rIns="0" bIns="0" rtlCol="0" anchor="t"/>
          <a:lstStyle/>
          <a:p>
            <a:pPr indent="0" marL="0">
              <a:lnSpc>
                <a:spcPct val="105000"/>
              </a:lnSpc>
              <a:buNone/>
            </a:pPr>
            <a:r>
              <a:rPr lang="en-US" sz="1700" dirty="0">
                <a:solidFill>
                  <a:srgbClr val="FFFFFF"/>
                </a:solidFill>
                <a:latin typeface="Calibri" pitchFamily="34" charset="0"/>
                <a:ea typeface="Calibri" pitchFamily="34" charset="-122"/>
                <a:cs typeface="Calibri" pitchFamily="34" charset="-120"/>
              </a:rPr>
              <a:t>A crash ends only when herding falls well below the level that started it. Markets with more diverse strategies recover more easily.</a:t>
            </a:r>
            <a:endParaRPr lang="en-US" sz="1700" dirty="0"/>
          </a:p>
        </p:txBody>
      </p:sp>
      <p:sp>
        <p:nvSpPr>
          <p:cNvPr id="16" name="Text 13"/>
          <p:cNvSpPr txBox="1"/>
          <p:nvPr/>
        </p:nvSpPr>
        <p:spPr>
          <a:xfrm>
            <a:off x="594360" y="6382512"/>
            <a:ext cx="9144000" cy="274320"/>
          </a:xfrm>
          <a:prstGeom prst="rect">
            <a:avLst/>
          </a:prstGeom>
          <a:noFill/>
          <a:ln/>
        </p:spPr>
        <p:txBody>
          <a:bodyPr wrap="square" lIns="0" tIns="0" rIns="0" bIns="0" rtlCol="0" anchor="ctr"/>
          <a:lstStyle/>
          <a:p>
            <a:pPr indent="0" marL="0">
              <a:buNone/>
            </a:pPr>
            <a:r>
              <a:rPr lang="en-US" sz="1200" dirty="0">
                <a:solidFill>
                  <a:srgbClr val="BFBFBF"/>
                </a:solidFill>
                <a:latin typeface="Calibri" pitchFamily="34" charset="0"/>
                <a:ea typeface="Calibri" pitchFamily="34" charset="-122"/>
                <a:cs typeface="Calibri" pitchFamily="34" charset="-120"/>
              </a:rPr>
              <a:t>Source: research/s4_crash_phase_diagram.py (10 to 15% of traders) and research/data/s2.log (herding levels).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cover">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11048695" y="6382512"/>
            <a:ext cx="548640" cy="274320"/>
          </a:xfrm>
          <a:prstGeom prst="rect">
            <a:avLst/>
          </a:prstGeom>
          <a:noFill/>
          <a:ln/>
        </p:spPr>
        <p:txBody>
          <a:bodyPr wrap="square" lIns="0" tIns="0" rIns="0" bIns="0" rtlCol="0" anchor="ctr"/>
          <a:lstStyle/>
          <a:p>
            <a:pPr algn="r" indent="0" marL="0">
              <a:buNone/>
            </a:pPr>
            <a:r>
              <a:rPr lang="en-US" sz="1200" dirty="0">
                <a:solidFill>
                  <a:srgbClr val="7A7A7A"/>
                </a:solidFill>
                <a:latin typeface="Calibri" pitchFamily="34" charset="0"/>
                <a:ea typeface="Calibri" pitchFamily="34" charset="-122"/>
                <a:cs typeface="Calibri" pitchFamily="34" charset="-120"/>
              </a:rPr>
              <a:t>26</a:t>
            </a:r>
            <a:endParaRPr lang="en-US" sz="1200" dirty="0"/>
          </a:p>
        </p:txBody>
      </p:sp>
      <p:sp>
        <p:nvSpPr>
          <p:cNvPr id="4" name="Text 1"/>
          <p:cNvSpPr txBox="1"/>
          <p:nvPr/>
        </p:nvSpPr>
        <p:spPr>
          <a:xfrm>
            <a:off x="594360" y="2377440"/>
            <a:ext cx="11002975"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5" name="Text 2"/>
          <p:cNvSpPr txBox="1"/>
          <p:nvPr/>
        </p:nvSpPr>
        <p:spPr>
          <a:xfrm>
            <a:off x="594360" y="3383280"/>
            <a:ext cx="11002975" cy="548640"/>
          </a:xfrm>
          <a:prstGeom prst="rect">
            <a:avLst/>
          </a:prstGeom>
          <a:noFill/>
          <a:ln/>
        </p:spPr>
        <p:txBody>
          <a:bodyPr wrap="square" lIns="0" tIns="0" rIns="0" bIns="0" rtlCol="0" anchor="ctr"/>
          <a:lstStyle/>
          <a:p>
            <a:pPr indent="0" marL="0">
              <a:buNone/>
            </a:pPr>
            <a:r>
              <a:rPr lang="en-US" sz="2600" dirty="0">
                <a:solidFill>
                  <a:srgbClr val="FFFFFF"/>
                </a:solidFill>
                <a:latin typeface="Calibri" pitchFamily="34" charset="0"/>
                <a:ea typeface="Calibri" pitchFamily="34" charset="-122"/>
                <a:cs typeface="Calibri" pitchFamily="34" charset="-120"/>
              </a:rPr>
              <a:t>Questions are welcome.</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Explosive Synchronization</dc:title>
  <dc:subject>PptxGenJS Presentation</dc:subject>
  <dc:creator>Athmeeya M Kashyap</dc:creator>
  <cp:lastModifiedBy>Athmeeya M Kashyap</cp:lastModifiedBy>
  <cp:revision>1</cp:revision>
  <dcterms:created xsi:type="dcterms:W3CDTF">2026-10-21T07:46:15Z</dcterms:created>
  <dcterms:modified xsi:type="dcterms:W3CDTF">2026-10-21T07:46:15Z</dcterms:modified>
</cp:coreProperties>
</file>